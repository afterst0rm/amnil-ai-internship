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9"/>
  </p:notesMasterIdLst>
  <p:handoutMasterIdLst>
    <p:handoutMasterId r:id="rId40"/>
  </p:handoutMasterIdLst>
  <p:sldIdLst>
    <p:sldId id="322" r:id="rId5"/>
    <p:sldId id="321" r:id="rId6"/>
    <p:sldId id="320" r:id="rId7"/>
    <p:sldId id="324" r:id="rId8"/>
    <p:sldId id="325" r:id="rId9"/>
    <p:sldId id="326" r:id="rId10"/>
    <p:sldId id="327" r:id="rId11"/>
    <p:sldId id="319" r:id="rId12"/>
    <p:sldId id="328" r:id="rId13"/>
    <p:sldId id="329" r:id="rId14"/>
    <p:sldId id="330" r:id="rId15"/>
    <p:sldId id="331" r:id="rId16"/>
    <p:sldId id="317" r:id="rId17"/>
    <p:sldId id="314" r:id="rId18"/>
    <p:sldId id="333" r:id="rId19"/>
    <p:sldId id="334" r:id="rId20"/>
    <p:sldId id="335" r:id="rId21"/>
    <p:sldId id="336" r:id="rId22"/>
    <p:sldId id="337" r:id="rId23"/>
    <p:sldId id="338" r:id="rId24"/>
    <p:sldId id="339" r:id="rId25"/>
    <p:sldId id="340" r:id="rId26"/>
    <p:sldId id="341" r:id="rId27"/>
    <p:sldId id="342" r:id="rId28"/>
    <p:sldId id="343" r:id="rId29"/>
    <p:sldId id="344" r:id="rId30"/>
    <p:sldId id="345" r:id="rId31"/>
    <p:sldId id="346" r:id="rId32"/>
    <p:sldId id="347" r:id="rId33"/>
    <p:sldId id="348" r:id="rId34"/>
    <p:sldId id="349" r:id="rId35"/>
    <p:sldId id="350" r:id="rId36"/>
    <p:sldId id="351" r:id="rId37"/>
    <p:sldId id="310"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B8BF"/>
    <a:srgbClr val="5869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FF85C4-FA51-E965-690F-ED99D1CDE679}" v="763" dt="2025-11-13T09:12:08.657"/>
    <p1510:client id="{44F189DB-452F-EF6C-64E8-AB1FDDD10DD8}" v="478" dt="2025-11-13T06:11:58.339"/>
    <p1510:client id="{941AEF09-3518-B511-728F-256FF95DFAC9}" v="175" dt="2025-11-13T07:12:27.797"/>
    <p1510:client id="{A23C01F2-8518-3398-9550-102A18EE36CB}" v="168" dt="2025-11-12T16:55:11.287"/>
    <p1510:client id="{C280C254-570D-B3F2-9301-DB0736280C0F}" v="512" dt="2025-11-13T14:36:35.138"/>
    <p1510:client id="{C5A1D256-B5C3-2E58-19CB-E67945B2AE05}" v="4" dt="2025-11-12T04:32:33.073"/>
    <p1510:client id="{CA05209D-D48B-2E1A-407C-3ADD2E9D2895}" v="144" dt="2025-11-13T06:53:08.261"/>
    <p1510:client id="{DA5F6AF4-5469-4B97-29E0-A446E8040899}" v="18" dt="2025-11-13T04:10:12.044"/>
  </p1510:revLst>
</p1510:revInfo>
</file>

<file path=ppt/tableStyles.xml><?xml version="1.0" encoding="utf-8"?>
<a:tblStyleLst xmlns:a="http://schemas.openxmlformats.org/drawingml/2006/main" def="{0E3FDE45-AF77-4B5C-9715-49D594BDF05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1A50702-3C68-4B14-B819-72B57D27F9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F0F4880-E690-44D0-8356-A9E7BDBAB0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BE6205E-B305-4B90-9534-3C5E99A0275E}" type="datetimeFigureOut">
              <a:rPr lang="en-US" smtClean="0"/>
              <a:t>11/13/2025</a:t>
            </a:fld>
            <a:endParaRPr lang="en-US"/>
          </a:p>
        </p:txBody>
      </p:sp>
      <p:sp>
        <p:nvSpPr>
          <p:cNvPr id="4" name="Footer Placeholder 3">
            <a:extLst>
              <a:ext uri="{FF2B5EF4-FFF2-40B4-BE49-F238E27FC236}">
                <a16:creationId xmlns:a16="http://schemas.microsoft.com/office/drawing/2014/main" id="{26B4ACF6-39FD-4B08-A7D5-5BFDC37B4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F7C9FD2-2C57-4DE7-8EA4-86DEE80B98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0AC623C-86E0-4A85-83FB-F4A716956FD4}" type="slidenum">
              <a:rPr lang="en-US" smtClean="0"/>
              <a:t>‹#›</a:t>
            </a:fld>
            <a:endParaRPr lang="en-US"/>
          </a:p>
        </p:txBody>
      </p:sp>
    </p:spTree>
    <p:extLst>
      <p:ext uri="{BB962C8B-B14F-4D97-AF65-F5344CB8AC3E}">
        <p14:creationId xmlns:p14="http://schemas.microsoft.com/office/powerpoint/2010/main" val="1693955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3722F1-E430-42A1-A473-1759336AECCE}" type="datetimeFigureOut">
              <a:rPr lang="en-US" smtClean="0"/>
              <a:t>11/13/2025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7D7554-D10C-4E29-B8E6-BB7111FA614F}" type="slidenum">
              <a:rPr lang="en-US" smtClean="0"/>
              <a:t>‹#›</a:t>
            </a:fld>
            <a:endParaRPr lang="en-US"/>
          </a:p>
        </p:txBody>
      </p:sp>
    </p:spTree>
    <p:extLst>
      <p:ext uri="{BB962C8B-B14F-4D97-AF65-F5344CB8AC3E}">
        <p14:creationId xmlns:p14="http://schemas.microsoft.com/office/powerpoint/2010/main" val="3517347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anchor="b">
            <a:normAutofit/>
          </a:bodyPr>
          <a:lstStyle>
            <a:lvl1pPr>
              <a:defRPr sz="6000">
                <a:solidFill>
                  <a:schemeClr val="bg1"/>
                </a:solidFill>
              </a:defRPr>
            </a:lvl1pPr>
          </a:lstStyle>
          <a:p>
            <a:r>
              <a:rPr lang="en-US"/>
              <a:t>Click to add title</a:t>
            </a:r>
          </a:p>
        </p:txBody>
      </p:sp>
    </p:spTree>
    <p:extLst>
      <p:ext uri="{BB962C8B-B14F-4D97-AF65-F5344CB8AC3E}">
        <p14:creationId xmlns:p14="http://schemas.microsoft.com/office/powerpoint/2010/main" val="1784555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55583" y="737115"/>
            <a:ext cx="4640418" cy="5407091"/>
          </a:xfrm>
        </p:spPr>
        <p:txBody>
          <a:bodyPr lIns="0">
            <a:normAutofit/>
          </a:bodyPr>
          <a:lstStyle>
            <a:lvl1pPr>
              <a:defRPr sz="3600"/>
            </a:lvl1pPr>
          </a:lstStyle>
          <a:p>
            <a:r>
              <a:rPr lang="en-US"/>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6388461" y="737115"/>
            <a:ext cx="4449712" cy="5407091"/>
          </a:xfrm>
        </p:spPr>
        <p:txBody>
          <a:bodyPr lIns="0" tIns="0" rIns="0" bIns="0" anchor="ct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5">
            <a:extLst>
              <a:ext uri="{FF2B5EF4-FFF2-40B4-BE49-F238E27FC236}">
                <a16:creationId xmlns:a16="http://schemas.microsoft.com/office/drawing/2014/main" id="{4E9F5D75-1D8F-F695-81F8-4A6D0C67821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a:p>
        </p:txBody>
      </p:sp>
    </p:spTree>
    <p:extLst>
      <p:ext uri="{BB962C8B-B14F-4D97-AF65-F5344CB8AC3E}">
        <p14:creationId xmlns:p14="http://schemas.microsoft.com/office/powerpoint/2010/main" val="327724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1278294"/>
            <a:ext cx="5000318" cy="4904141"/>
          </a:xfrm>
        </p:spPr>
        <p:txBody>
          <a:bodyPr anchor="b">
            <a:normAutofit/>
          </a:bodyPr>
          <a:lstStyle>
            <a:lvl1pPr>
              <a:defRPr sz="3600"/>
            </a:lvl1pPr>
          </a:lstStyle>
          <a:p>
            <a:r>
              <a:rPr lang="en-US"/>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6642169" y="-1"/>
            <a:ext cx="4635426" cy="6857999"/>
          </a:xfrm>
        </p:spPr>
        <p:txBody>
          <a:bodyPr>
            <a:normAutofit/>
          </a:bodyPr>
          <a:lstStyle>
            <a:lvl1pPr marL="0" indent="0" algn="ctr">
              <a:buNone/>
              <a:defRPr sz="2000"/>
            </a:lvl1pPr>
          </a:lstStyle>
          <a:p>
            <a:r>
              <a:rPr lang="en-US"/>
              <a:t>Click icon to add picture</a:t>
            </a:r>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029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titl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3508311"/>
            <a:ext cx="9923770" cy="1438762"/>
          </a:xfrm>
        </p:spPr>
        <p:txBody>
          <a:bodyPr anchor="b">
            <a:normAutofit/>
          </a:bodyPr>
          <a:lstStyle>
            <a:lvl1pPr>
              <a:defRPr sz="3600"/>
            </a:lvl1pPr>
          </a:lstStyle>
          <a:p>
            <a:r>
              <a:rPr lang="en-US"/>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915600" y="0"/>
            <a:ext cx="10361995" cy="3429000"/>
          </a:xfrm>
        </p:spPr>
        <p:txBody>
          <a:bodyPr>
            <a:normAutofit/>
          </a:bodyPr>
          <a:lstStyle>
            <a:lvl1pPr marL="0" indent="0" algn="ctr">
              <a:buNone/>
              <a:defRPr sz="2000"/>
            </a:lvl1pPr>
          </a:lstStyle>
          <a:p>
            <a:r>
              <a:rPr lang="en-US"/>
              <a:t>Click icon to add picture</a:t>
            </a:r>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2">
            <a:extLst>
              <a:ext uri="{FF2B5EF4-FFF2-40B4-BE49-F238E27FC236}">
                <a16:creationId xmlns:a16="http://schemas.microsoft.com/office/drawing/2014/main"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anchor="t">
            <a:normAutofit/>
          </a:bodyPr>
          <a:lstStyle>
            <a:lvl1pPr marL="0" indent="0" algn="l">
              <a:lnSpc>
                <a:spcPct val="80000"/>
              </a:lnSpc>
              <a:spcBef>
                <a:spcPts val="0"/>
              </a:spcBef>
              <a:buNone/>
              <a:defRPr sz="2000" spc="0" baseline="0">
                <a:solidFill>
                  <a:schemeClr val="tx1"/>
                </a:solidFill>
                <a:latin typeface="+mn-lt"/>
              </a:defRPr>
            </a:lvl1pPr>
          </a:lstStyle>
          <a:p>
            <a:pPr lvl="0"/>
            <a:r>
              <a:rPr lang="en-US"/>
              <a:t>Click to add subtitle</a:t>
            </a:r>
          </a:p>
        </p:txBody>
      </p:sp>
    </p:spTree>
    <p:extLst>
      <p:ext uri="{BB962C8B-B14F-4D97-AF65-F5344CB8AC3E}">
        <p14:creationId xmlns:p14="http://schemas.microsoft.com/office/powerpoint/2010/main" val="32272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5" y="503852"/>
            <a:ext cx="9150675" cy="1427585"/>
          </a:xfrm>
        </p:spPr>
        <p:txBody>
          <a:bodyPr lIns="0">
            <a:normAutofit/>
          </a:bodyPr>
          <a:lstStyle>
            <a:lvl1pPr>
              <a:defRPr sz="3600"/>
            </a:lvl1pPr>
          </a:lstStyle>
          <a:p>
            <a:r>
              <a:rPr lang="en-US"/>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50153" y="2108722"/>
            <a:ext cx="8552264" cy="4119463"/>
          </a:xfrm>
        </p:spPr>
        <p:txBody>
          <a:bodyPr lIns="0" tIns="0" rIns="0" bIns="0">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5">
            <a:extLst>
              <a:ext uri="{FF2B5EF4-FFF2-40B4-BE49-F238E27FC236}">
                <a16:creationId xmlns:a16="http://schemas.microsoft.com/office/drawing/2014/main" id="{5DABAFC1-3E76-DCE6-3A6D-E0020C5BE8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a:p>
        </p:txBody>
      </p:sp>
    </p:spTree>
    <p:extLst>
      <p:ext uri="{BB962C8B-B14F-4D97-AF65-F5344CB8AC3E}">
        <p14:creationId xmlns:p14="http://schemas.microsoft.com/office/powerpoint/2010/main" val="137359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6"/>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07175C5-CB2F-2BAC-3704-54DCD1BF043F}"/>
              </a:ext>
            </a:extLst>
          </p:cNvPr>
          <p:cNvSpPr>
            <a:spLocks noGrp="1"/>
          </p:cNvSpPr>
          <p:nvPr>
            <p:ph type="title" hasCustomPrompt="1"/>
          </p:nvPr>
        </p:nvSpPr>
        <p:spPr>
          <a:xfrm>
            <a:off x="1038031" y="1068169"/>
            <a:ext cx="10115939" cy="2681549"/>
          </a:xfrm>
        </p:spPr>
        <p:txBody>
          <a:bodyPr anchor="b"/>
          <a:lstStyle>
            <a:lvl1pPr algn="ctr">
              <a:defRPr>
                <a:solidFill>
                  <a:schemeClr val="bg1"/>
                </a:solidFill>
              </a:defRPr>
            </a:lvl1pPr>
          </a:lstStyle>
          <a:p>
            <a:r>
              <a:rPr lang="en-US"/>
              <a:t>Click to add title</a:t>
            </a:r>
          </a:p>
        </p:txBody>
      </p:sp>
      <p:sp>
        <p:nvSpPr>
          <p:cNvPr id="5" name="Rectangle 4">
            <a:extLst>
              <a:ext uri="{FF2B5EF4-FFF2-40B4-BE49-F238E27FC236}">
                <a16:creationId xmlns:a16="http://schemas.microsoft.com/office/drawing/2014/main" id="{3901905E-33E7-852F-94E3-8E100B3D1E4A}"/>
              </a:ext>
              <a:ext uri="{C183D7F6-B498-43B3-948B-1728B52AA6E4}">
                <adec:decorative xmlns:adec="http://schemas.microsoft.com/office/drawing/2017/decorative"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B7799F7-CBB1-9649-7D06-F7EEFD4F0183}"/>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1AFC5CA-DB29-4B8C-C004-72E4EC761C3B}"/>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12">
            <a:extLst>
              <a:ext uri="{FF2B5EF4-FFF2-40B4-BE49-F238E27FC236}">
                <a16:creationId xmlns:a16="http://schemas.microsoft.com/office/drawing/2014/main"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anchor="t">
            <a:normAutofit/>
          </a:bodyPr>
          <a:lstStyle>
            <a:lvl1pPr marL="0" indent="0" algn="ctr">
              <a:lnSpc>
                <a:spcPct val="80000"/>
              </a:lnSpc>
              <a:spcBef>
                <a:spcPts val="0"/>
              </a:spcBef>
              <a:buNone/>
              <a:defRPr sz="2000" spc="0" baseline="0">
                <a:solidFill>
                  <a:schemeClr val="bg1"/>
                </a:solidFill>
                <a:latin typeface="+mn-lt"/>
              </a:defRPr>
            </a:lvl1pPr>
          </a:lstStyle>
          <a:p>
            <a:pPr lvl="0"/>
            <a:r>
              <a:rPr lang="en-US"/>
              <a:t>Click to add subtitle</a:t>
            </a:r>
          </a:p>
        </p:txBody>
      </p:sp>
    </p:spTree>
    <p:extLst>
      <p:ext uri="{BB962C8B-B14F-4D97-AF65-F5344CB8AC3E}">
        <p14:creationId xmlns:p14="http://schemas.microsoft.com/office/powerpoint/2010/main" val="2069536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ntent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1D40DF0B-6602-19D4-3110-4659C28780D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a:p>
        </p:txBody>
      </p:sp>
    </p:spTree>
    <p:extLst>
      <p:ext uri="{BB962C8B-B14F-4D97-AF65-F5344CB8AC3E}">
        <p14:creationId xmlns:p14="http://schemas.microsoft.com/office/powerpoint/2010/main" val="2561720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a:t>Click to add title</a:t>
            </a:r>
          </a:p>
        </p:txBody>
      </p:sp>
      <p:sp>
        <p:nvSpPr>
          <p:cNvPr id="4" name="Content Placeholder 7">
            <a:extLst>
              <a:ext uri="{FF2B5EF4-FFF2-40B4-BE49-F238E27FC236}">
                <a16:creationId xmlns:a16="http://schemas.microsoft.com/office/drawing/2014/main" id="{C355854D-70C0-E6E1-2A0C-284D00A21AEC}"/>
              </a:ext>
            </a:extLst>
          </p:cNvPr>
          <p:cNvSpPr>
            <a:spLocks noGrp="1"/>
          </p:cNvSpPr>
          <p:nvPr>
            <p:ph sz="quarter" idx="12" hasCustomPrompt="1"/>
          </p:nvPr>
        </p:nvSpPr>
        <p:spPr>
          <a:xfrm>
            <a:off x="1468815" y="2057401"/>
            <a:ext cx="3068678" cy="4119463"/>
          </a:xfrm>
        </p:spPr>
        <p:txBody>
          <a:bodyPr lIns="0">
            <a:normAutofit/>
          </a:bodyPr>
          <a:lstStyle>
            <a:lvl1pPr marL="320040" indent="-320040">
              <a:lnSpc>
                <a:spcPct val="100000"/>
              </a:lnSpc>
              <a:spcBef>
                <a:spcPts val="0"/>
              </a:spcBef>
              <a:spcAft>
                <a:spcPts val="1200"/>
              </a:spcAft>
              <a:buFont typeface="+mj-lt"/>
              <a:buAutoNum type="arabicPeriod"/>
              <a:defRPr sz="2000"/>
            </a:lvl1pPr>
            <a:lvl2pPr marL="457200" indent="-320040">
              <a:lnSpc>
                <a:spcPct val="100000"/>
              </a:lnSpc>
              <a:spcBef>
                <a:spcPts val="1000"/>
              </a:spcBef>
              <a:spcAft>
                <a:spcPts val="1200"/>
              </a:spcAft>
              <a:buFont typeface="+mj-lt"/>
              <a:buAutoNum type="alphaLcPeriod"/>
              <a:defRPr sz="2000"/>
            </a:lvl2pPr>
            <a:lvl3pPr marL="914400" indent="-320040">
              <a:spcBef>
                <a:spcPts val="1000"/>
              </a:spcBef>
              <a:spcAft>
                <a:spcPts val="1200"/>
              </a:spcAft>
              <a:buFont typeface="+mj-lt"/>
              <a:buAutoNum type="arabicParenR"/>
              <a:defRPr sz="2000"/>
            </a:lvl3pPr>
            <a:lvl4pPr marL="1371600" indent="-320040">
              <a:spcBef>
                <a:spcPts val="1000"/>
              </a:spcBef>
              <a:spcAft>
                <a:spcPts val="1200"/>
              </a:spcAft>
              <a:buFont typeface="+mj-lt"/>
              <a:buAutoNum type="alphaLcParenR"/>
              <a:defRPr sz="2000"/>
            </a:lvl4pPr>
            <a:lvl5pPr marL="1828800" indent="-320040">
              <a:spcBef>
                <a:spcPts val="1000"/>
              </a:spcBef>
              <a:spcAft>
                <a:spcPts val="1200"/>
              </a:spcAft>
              <a:buFont typeface="+mj-lt"/>
              <a:buAutoNum type="romanLcPeriod"/>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5191727" y="2057401"/>
            <a:ext cx="6085857"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D7B331F9-6D4A-5020-969F-E961AF374E19}"/>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a:p>
        </p:txBody>
      </p:sp>
    </p:spTree>
    <p:extLst>
      <p:ext uri="{BB962C8B-B14F-4D97-AF65-F5344CB8AC3E}">
        <p14:creationId xmlns:p14="http://schemas.microsoft.com/office/powerpoint/2010/main" val="2514237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icture and Content">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a:t>Click to add title</a:t>
            </a:r>
          </a:p>
        </p:txBody>
      </p:sp>
      <p:sp>
        <p:nvSpPr>
          <p:cNvPr id="8" name="Picture Placeholder 7">
            <a:extLst>
              <a:ext uri="{FF2B5EF4-FFF2-40B4-BE49-F238E27FC236}">
                <a16:creationId xmlns:a16="http://schemas.microsoft.com/office/drawing/2014/main" id="{357912CB-B8F8-1E65-094F-AD3220E6C79C}"/>
              </a:ext>
            </a:extLst>
          </p:cNvPr>
          <p:cNvSpPr>
            <a:spLocks noGrp="1"/>
          </p:cNvSpPr>
          <p:nvPr>
            <p:ph type="pic" sz="quarter" idx="12"/>
          </p:nvPr>
        </p:nvSpPr>
        <p:spPr>
          <a:xfrm>
            <a:off x="1503363" y="2061969"/>
            <a:ext cx="4592637" cy="4805362"/>
          </a:xfrm>
        </p:spPr>
        <p:txBody>
          <a:bodyPr>
            <a:normAutofit/>
          </a:bodyPr>
          <a:lstStyle>
            <a:lvl1pPr marL="0" indent="0" algn="ctr">
              <a:buNone/>
              <a:defRPr sz="2000"/>
            </a:lvl1pPr>
          </a:lstStyle>
          <a:p>
            <a:r>
              <a:rPr lang="en-US"/>
              <a:t>Click icon to add picture</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787262" y="2052736"/>
            <a:ext cx="4490320" cy="4800598"/>
          </a:xfrm>
        </p:spPr>
        <p:txBody>
          <a:bodyPr lIns="0">
            <a:normAutofit/>
          </a:bodyPr>
          <a:lstStyle>
            <a:lvl1pPr marL="0" indent="0">
              <a:lnSpc>
                <a:spcPct val="100000"/>
              </a:lnSpc>
              <a:spcBef>
                <a:spcPts val="1000"/>
              </a:spcBef>
              <a:spcAft>
                <a:spcPts val="1200"/>
              </a:spcAft>
              <a:buNone/>
              <a:defRPr sz="2000"/>
            </a:lvl1pPr>
            <a:lvl2pPr marL="800100" indent="-342900">
              <a:lnSpc>
                <a:spcPct val="100000"/>
              </a:lnSpc>
              <a:spcBef>
                <a:spcPts val="1000"/>
              </a:spcBef>
              <a:spcAft>
                <a:spcPts val="1200"/>
              </a:spcAft>
              <a:buFont typeface="Arial" panose="020B0604020202020204" pitchFamily="34" charset="0"/>
              <a:buChar char="•"/>
              <a:defRPr sz="2000"/>
            </a:lvl2pPr>
            <a:lvl3pPr marL="1257300" indent="-342900">
              <a:spcBef>
                <a:spcPts val="1000"/>
              </a:spcBef>
              <a:spcAft>
                <a:spcPts val="1200"/>
              </a:spcAft>
              <a:buFont typeface="Arial" panose="020B0604020202020204" pitchFamily="34" charset="0"/>
              <a:buChar char="•"/>
              <a:defRPr sz="2000"/>
            </a:lvl3pPr>
            <a:lvl4pPr marL="1714500" indent="-342900">
              <a:spcBef>
                <a:spcPts val="1000"/>
              </a:spcBef>
              <a:spcAft>
                <a:spcPts val="1200"/>
              </a:spcAft>
              <a:buFont typeface="Arial" panose="020B0604020202020204" pitchFamily="34" charset="0"/>
              <a:buChar char="•"/>
              <a:defRPr sz="2000"/>
            </a:lvl4pPr>
            <a:lvl5pPr marL="2171700" indent="-342900">
              <a:spcBef>
                <a:spcPts val="1000"/>
              </a:spcBef>
              <a:spcAft>
                <a:spcPts val="1200"/>
              </a:spcAft>
              <a:buFont typeface="Arial" panose="020B0604020202020204" pitchFamily="34" charset="0"/>
              <a:buChar char="•"/>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5">
            <a:extLst>
              <a:ext uri="{FF2B5EF4-FFF2-40B4-BE49-F238E27FC236}">
                <a16:creationId xmlns:a16="http://schemas.microsoft.com/office/drawing/2014/main" id="{8809D86D-3DDE-CA24-4CAA-DF6944B9BCBB}"/>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107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a:t>Click to add title</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1468814" y="2057400"/>
            <a:ext cx="3091027" cy="3867538"/>
          </a:xfrm>
        </p:spPr>
        <p:txBody>
          <a:bodyPr lIns="0">
            <a:normAutofit/>
          </a:bodyPr>
          <a:lstStyle>
            <a:lvl1pPr marL="0" indent="0">
              <a:lnSpc>
                <a:spcPct val="100000"/>
              </a:lnSpc>
              <a:spcBef>
                <a:spcPts val="0"/>
              </a:spcBef>
              <a:spcAft>
                <a:spcPts val="1200"/>
              </a:spcAft>
              <a:buNone/>
              <a:defRPr sz="2000"/>
            </a:lvl1pPr>
            <a:lvl2pPr marL="800100" indent="-342900">
              <a:lnSpc>
                <a:spcPct val="100000"/>
              </a:lnSpc>
              <a:spcBef>
                <a:spcPts val="0"/>
              </a:spcBef>
              <a:spcAft>
                <a:spcPts val="1200"/>
              </a:spcAft>
              <a:buFont typeface="Arial" panose="020B0604020202020204" pitchFamily="34" charset="0"/>
              <a:buChar char="•"/>
              <a:defRPr sz="2000"/>
            </a:lvl2pPr>
            <a:lvl3pPr marL="1257300" indent="-342900">
              <a:spcBef>
                <a:spcPts val="0"/>
              </a:spcBef>
              <a:spcAft>
                <a:spcPts val="1200"/>
              </a:spcAft>
              <a:buFont typeface="Arial" panose="020B0604020202020204" pitchFamily="34" charset="0"/>
              <a:buChar char="•"/>
              <a:defRPr sz="2000"/>
            </a:lvl3pPr>
            <a:lvl4pPr marL="1714500" indent="-342900">
              <a:spcBef>
                <a:spcPts val="0"/>
              </a:spcBef>
              <a:spcAft>
                <a:spcPts val="1200"/>
              </a:spcAft>
              <a:buFont typeface="Arial" panose="020B0604020202020204" pitchFamily="34" charset="0"/>
              <a:buChar char="•"/>
              <a:defRPr sz="2000"/>
            </a:lvl4pPr>
            <a:lvl5pPr marL="2171700" indent="-342900">
              <a:spcBef>
                <a:spcPts val="0"/>
              </a:spcBef>
              <a:spcAft>
                <a:spcPts val="1200"/>
              </a:spcAft>
              <a:buFont typeface="Arial" panose="020B0604020202020204" pitchFamily="34" charset="0"/>
              <a:buChar char="•"/>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4" name="Table Placeholder 13">
            <a:extLst>
              <a:ext uri="{FF2B5EF4-FFF2-40B4-BE49-F238E27FC236}">
                <a16:creationId xmlns:a16="http://schemas.microsoft.com/office/drawing/2014/main" id="{EA708189-1532-1BDD-104F-4D8556146CEE}"/>
              </a:ext>
            </a:extLst>
          </p:cNvPr>
          <p:cNvSpPr>
            <a:spLocks noGrp="1"/>
          </p:cNvSpPr>
          <p:nvPr>
            <p:ph type="tbl" sz="quarter" idx="12"/>
          </p:nvPr>
        </p:nvSpPr>
        <p:spPr>
          <a:xfrm>
            <a:off x="5097463" y="2051976"/>
            <a:ext cx="6180137" cy="3867538"/>
          </a:xfrm>
        </p:spPr>
        <p:txBody>
          <a:bodyPr>
            <a:normAutofit/>
          </a:bodyPr>
          <a:lstStyle>
            <a:lvl1pPr>
              <a:defRPr sz="2000"/>
            </a:lvl1pPr>
          </a:lstStyle>
          <a:p>
            <a:r>
              <a:rPr lang="en-US"/>
              <a:t>Click icon to add table</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6E0EC71B-95A1-C740-6B1F-F8DF02E2D1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a:p>
        </p:txBody>
      </p:sp>
    </p:spTree>
    <p:extLst>
      <p:ext uri="{BB962C8B-B14F-4D97-AF65-F5344CB8AC3E}">
        <p14:creationId xmlns:p14="http://schemas.microsoft.com/office/powerpoint/2010/main" val="34092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Content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a:t>Click to add title</a:t>
            </a:r>
          </a:p>
        </p:txBody>
      </p:sp>
      <p:sp>
        <p:nvSpPr>
          <p:cNvPr id="8" name="Content Placeholder 7">
            <a:extLst>
              <a:ext uri="{FF2B5EF4-FFF2-40B4-BE49-F238E27FC236}">
                <a16:creationId xmlns:a16="http://schemas.microsoft.com/office/drawing/2014/main" id="{8B0AB10A-3CAB-D4C0-3CB1-401461802BD3}"/>
              </a:ext>
            </a:extLst>
          </p:cNvPr>
          <p:cNvSpPr>
            <a:spLocks noGrp="1"/>
          </p:cNvSpPr>
          <p:nvPr>
            <p:ph sz="quarter" idx="10" hasCustomPrompt="1"/>
          </p:nvPr>
        </p:nvSpPr>
        <p:spPr>
          <a:xfrm>
            <a:off x="1468814" y="2066731"/>
            <a:ext cx="6452876" cy="3867538"/>
          </a:xfrm>
        </p:spPr>
        <p:txBody>
          <a:bodyPr lIns="0">
            <a:normAutofit/>
          </a:bodyPr>
          <a:lstStyle>
            <a:lvl1pPr>
              <a:lnSpc>
                <a:spcPct val="100000"/>
              </a:lnSpc>
              <a:spcAft>
                <a:spcPts val="600"/>
              </a:spcAft>
              <a:defRPr sz="2000"/>
            </a:lvl1pPr>
            <a:lvl2pPr>
              <a:lnSpc>
                <a:spcPct val="100000"/>
              </a:lnSpc>
              <a:spcAft>
                <a:spcPts val="600"/>
              </a:spcAft>
              <a:defRPr sz="2000"/>
            </a:lvl2pPr>
            <a:lvl3pPr>
              <a:lnSpc>
                <a:spcPct val="100000"/>
              </a:lnSpc>
              <a:spcBef>
                <a:spcPts val="1000"/>
              </a:spcBef>
              <a:spcAft>
                <a:spcPts val="600"/>
              </a:spcAft>
              <a:defRPr sz="2000"/>
            </a:lvl3pPr>
            <a:lvl4pPr>
              <a:lnSpc>
                <a:spcPct val="100000"/>
              </a:lnSpc>
              <a:spcAft>
                <a:spcPts val="1200"/>
              </a:spcAft>
              <a:defRPr sz="2000"/>
            </a:lvl4pPr>
            <a:lvl5pPr>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1" name="Content Placeholder 7">
            <a:extLst>
              <a:ext uri="{FF2B5EF4-FFF2-40B4-BE49-F238E27FC236}">
                <a16:creationId xmlns:a16="http://schemas.microsoft.com/office/drawing/2014/main" id="{7DBA8ADB-B20F-8404-46AB-AF67E25C7C75}"/>
              </a:ext>
            </a:extLst>
          </p:cNvPr>
          <p:cNvSpPr>
            <a:spLocks noGrp="1"/>
          </p:cNvSpPr>
          <p:nvPr>
            <p:ph sz="quarter" idx="11" hasCustomPrompt="1"/>
          </p:nvPr>
        </p:nvSpPr>
        <p:spPr>
          <a:xfrm>
            <a:off x="8169196" y="2066731"/>
            <a:ext cx="3108391" cy="3867538"/>
          </a:xfrm>
        </p:spPr>
        <p:txBody>
          <a:bodyPr lIns="0">
            <a:normAutofit/>
          </a:bodyPr>
          <a:lstStyle>
            <a:lvl1pPr marL="0" indent="0">
              <a:lnSpc>
                <a:spcPct val="100000"/>
              </a:lnSpc>
              <a:spcAft>
                <a:spcPts val="600"/>
              </a:spcAft>
              <a:buNone/>
              <a:defRPr sz="2000"/>
            </a:lvl1pPr>
            <a:lvl2pPr marL="800100" indent="-342900">
              <a:lnSpc>
                <a:spcPct val="100000"/>
              </a:lnSpc>
              <a:spcAft>
                <a:spcPts val="600"/>
              </a:spcAft>
              <a:buFont typeface="Arial" panose="020B0604020202020204" pitchFamily="34" charset="0"/>
              <a:buChar char="•"/>
              <a:defRPr sz="2000"/>
            </a:lvl2pPr>
            <a:lvl3pPr marL="1257300" indent="-342900">
              <a:buFont typeface="Arial" panose="020B0604020202020204" pitchFamily="34" charset="0"/>
              <a:buChar char="•"/>
              <a:defRPr sz="2000"/>
            </a:lvl3pPr>
            <a:lvl4pPr marL="1714500" indent="-342900">
              <a:buFont typeface="Arial" panose="020B0604020202020204" pitchFamily="34" charset="0"/>
              <a:buChar char="•"/>
              <a:defRPr sz="2000"/>
            </a:lvl4pPr>
            <a:lvl5pPr marL="2171700" indent="-342900">
              <a:buFont typeface="Arial" panose="020B0604020202020204" pitchFamily="34" charset="0"/>
              <a:buChar char="•"/>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5">
            <a:extLst>
              <a:ext uri="{FF2B5EF4-FFF2-40B4-BE49-F238E27FC236}">
                <a16:creationId xmlns:a16="http://schemas.microsoft.com/office/drawing/2014/main" id="{8814D5F7-E70A-5F97-5C8F-95B9E1B6D492}"/>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a:p>
        </p:txBody>
      </p:sp>
    </p:spTree>
    <p:extLst>
      <p:ext uri="{BB962C8B-B14F-4D97-AF65-F5344CB8AC3E}">
        <p14:creationId xmlns:p14="http://schemas.microsoft.com/office/powerpoint/2010/main" val="852814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a:t>Click to add title</a:t>
            </a:r>
          </a:p>
        </p:txBody>
      </p:sp>
      <p:sp>
        <p:nvSpPr>
          <p:cNvPr id="9" name="Table Placeholder 8">
            <a:extLst>
              <a:ext uri="{FF2B5EF4-FFF2-40B4-BE49-F238E27FC236}">
                <a16:creationId xmlns:a16="http://schemas.microsoft.com/office/drawing/2014/main" id="{CB43608F-0A38-CF4A-4B3B-F1212E786FDE}"/>
              </a:ext>
            </a:extLst>
          </p:cNvPr>
          <p:cNvSpPr>
            <a:spLocks noGrp="1"/>
          </p:cNvSpPr>
          <p:nvPr>
            <p:ph type="tbl" sz="quarter" idx="10"/>
          </p:nvPr>
        </p:nvSpPr>
        <p:spPr>
          <a:xfrm>
            <a:off x="1487488" y="2057400"/>
            <a:ext cx="9790112" cy="3886200"/>
          </a:xfrm>
        </p:spPr>
        <p:txBody>
          <a:bodyPr>
            <a:normAutofit/>
          </a:bodyPr>
          <a:lstStyle>
            <a:lvl1pPr>
              <a:defRPr sz="2400"/>
            </a:lvl1pPr>
          </a:lstStyle>
          <a:p>
            <a:r>
              <a:rPr lang="en-US"/>
              <a:t>Click icon to add table</a:t>
            </a:r>
          </a:p>
        </p:txBody>
      </p:sp>
      <p:sp>
        <p:nvSpPr>
          <p:cNvPr id="2" name="Slide Number Placeholder 5">
            <a:extLst>
              <a:ext uri="{FF2B5EF4-FFF2-40B4-BE49-F238E27FC236}">
                <a16:creationId xmlns:a16="http://schemas.microsoft.com/office/drawing/2014/main" id="{05DA3688-07D1-82D9-6818-C95E9A69C2F1}"/>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a:p>
        </p:txBody>
      </p:sp>
    </p:spTree>
    <p:extLst>
      <p:ext uri="{BB962C8B-B14F-4D97-AF65-F5344CB8AC3E}">
        <p14:creationId xmlns:p14="http://schemas.microsoft.com/office/powerpoint/2010/main" val="269135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4" y="690511"/>
            <a:ext cx="4964671" cy="5253089"/>
          </a:xfrm>
        </p:spPr>
        <p:txBody>
          <a:bodyPr anchor="b">
            <a:normAutofit/>
          </a:bodyPr>
          <a:lstStyle>
            <a:lvl1pPr>
              <a:defRPr sz="6000">
                <a:solidFill>
                  <a:schemeClr val="bg1"/>
                </a:solidFill>
              </a:defRPr>
            </a:lvl1pPr>
          </a:lstStyle>
          <a:p>
            <a:r>
              <a:rPr lang="en-US"/>
              <a:t>Click to add title</a:t>
            </a:r>
          </a:p>
        </p:txBody>
      </p:sp>
      <p:sp>
        <p:nvSpPr>
          <p:cNvPr id="10" name="Content Placeholder 9">
            <a:extLst>
              <a:ext uri="{FF2B5EF4-FFF2-40B4-BE49-F238E27FC236}">
                <a16:creationId xmlns:a16="http://schemas.microsoft.com/office/drawing/2014/main" id="{AD608249-3D60-D3B2-68C5-778D0EA18F2D}"/>
              </a:ext>
            </a:extLst>
          </p:cNvPr>
          <p:cNvSpPr>
            <a:spLocks noGrp="1"/>
          </p:cNvSpPr>
          <p:nvPr>
            <p:ph sz="quarter" idx="10" hasCustomPrompt="1"/>
          </p:nvPr>
        </p:nvSpPr>
        <p:spPr>
          <a:xfrm>
            <a:off x="6282286" y="690465"/>
            <a:ext cx="4784372" cy="5253089"/>
          </a:xfrm>
        </p:spPr>
        <p:txBody>
          <a:bodyPr anchor="ctr">
            <a:normAutofit/>
          </a:bodyPr>
          <a:lstStyle>
            <a:lvl1pPr marL="0" indent="0">
              <a:lnSpc>
                <a:spcPct val="100000"/>
              </a:lnSpc>
              <a:spcBef>
                <a:spcPts val="0"/>
              </a:spcBef>
              <a:spcAft>
                <a:spcPts val="1200"/>
              </a:spcAft>
              <a:buNone/>
              <a:defRPr sz="2000">
                <a:solidFill>
                  <a:schemeClr val="bg1"/>
                </a:solidFill>
              </a:defRPr>
            </a:lvl1pPr>
            <a:lvl2pPr marL="742950" indent="-285750">
              <a:lnSpc>
                <a:spcPct val="100000"/>
              </a:lnSpc>
              <a:spcBef>
                <a:spcPts val="0"/>
              </a:spcBef>
              <a:spcAft>
                <a:spcPts val="1200"/>
              </a:spcAft>
              <a:buFont typeface="Arial" panose="020B0604020202020204" pitchFamily="34" charset="0"/>
              <a:buChar char="•"/>
              <a:defRPr sz="1800">
                <a:solidFill>
                  <a:schemeClr val="bg1"/>
                </a:solidFill>
              </a:defRPr>
            </a:lvl2pPr>
            <a:lvl3pPr marL="1200150" indent="-285750">
              <a:lnSpc>
                <a:spcPct val="100000"/>
              </a:lnSpc>
              <a:spcBef>
                <a:spcPts val="0"/>
              </a:spcBef>
              <a:spcAft>
                <a:spcPts val="1200"/>
              </a:spcAft>
              <a:buFont typeface="Arial" panose="020B0604020202020204" pitchFamily="34" charset="0"/>
              <a:buChar char="•"/>
              <a:defRPr sz="1600">
                <a:solidFill>
                  <a:schemeClr val="bg1"/>
                </a:solidFill>
              </a:defRPr>
            </a:lvl3pPr>
            <a:lvl4pPr marL="1657350" indent="-285750">
              <a:lnSpc>
                <a:spcPct val="100000"/>
              </a:lnSpc>
              <a:spcBef>
                <a:spcPts val="0"/>
              </a:spcBef>
              <a:spcAft>
                <a:spcPts val="1200"/>
              </a:spcAft>
              <a:buFont typeface="Arial" panose="020B0604020202020204" pitchFamily="34" charset="0"/>
              <a:buChar char="•"/>
              <a:defRPr sz="1400">
                <a:solidFill>
                  <a:schemeClr val="bg1"/>
                </a:solidFill>
              </a:defRPr>
            </a:lvl4pPr>
            <a:lvl5pPr marL="2114550" indent="-285750">
              <a:lnSpc>
                <a:spcPct val="100000"/>
              </a:lnSpc>
              <a:spcBef>
                <a:spcPts val="0"/>
              </a:spcBef>
              <a:spcAft>
                <a:spcPts val="1200"/>
              </a:spcAft>
              <a:buFont typeface="Arial" panose="020B0604020202020204" pitchFamily="34" charset="0"/>
              <a:buChar char="•"/>
              <a:defRPr sz="1400">
                <a:solidFill>
                  <a:schemeClr val="bg1"/>
                </a:solidFill>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43748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82F216-62F1-7E0B-63FD-51C27CDAA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61F31D-B959-2AD8-9208-FF08B574DB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32C8C7-5C6C-400B-AEC0-4D8178161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b="0" cap="all" spc="150" baseline="0">
                <a:solidFill>
                  <a:schemeClr val="bg2">
                    <a:lumMod val="50000"/>
                  </a:schemeClr>
                </a:solidFill>
                <a:latin typeface="Univers Light" panose="020B0403020202020204" pitchFamily="34" charset="0"/>
              </a:defRPr>
            </a:lvl1pPr>
          </a:lstStyle>
          <a:p>
            <a:endParaRPr lang="en-US"/>
          </a:p>
        </p:txBody>
      </p:sp>
      <p:sp>
        <p:nvSpPr>
          <p:cNvPr id="5" name="Footer Placeholder 4">
            <a:extLst>
              <a:ext uri="{FF2B5EF4-FFF2-40B4-BE49-F238E27FC236}">
                <a16:creationId xmlns:a16="http://schemas.microsoft.com/office/drawing/2014/main" id="{4B7105D6-7B52-4B7D-9473-BCD571A93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b="0" cap="all" spc="150" baseline="0">
                <a:solidFill>
                  <a:schemeClr val="bg2">
                    <a:lumMod val="50000"/>
                  </a:schemeClr>
                </a:solidFill>
                <a:latin typeface="Univers Light" panose="020B0403020202020204" pitchFamily="34" charset="0"/>
              </a:defRPr>
            </a:lvl1pPr>
          </a:lstStyle>
          <a:p>
            <a:endParaRPr lang="en-US"/>
          </a:p>
        </p:txBody>
      </p:sp>
      <p:sp>
        <p:nvSpPr>
          <p:cNvPr id="6" name="Slide Number Placeholder 5">
            <a:extLst>
              <a:ext uri="{FF2B5EF4-FFF2-40B4-BE49-F238E27FC236}">
                <a16:creationId xmlns:a16="http://schemas.microsoft.com/office/drawing/2014/main" id="{B13EAA0A-7090-4FA3-AD1C-CD4570404021}"/>
              </a:ext>
            </a:extLst>
          </p:cNvPr>
          <p:cNvSpPr>
            <a:spLocks noGrp="1"/>
          </p:cNvSpPr>
          <p:nvPr>
            <p:ph type="sldNum" sz="quarter" idx="4"/>
          </p:nvPr>
        </p:nvSpPr>
        <p:spPr>
          <a:xfrm>
            <a:off x="412136" y="5943601"/>
            <a:ext cx="968983" cy="651912"/>
          </a:xfrm>
          <a:prstGeom prst="rect">
            <a:avLst/>
          </a:prstGeom>
        </p:spPr>
        <p:txBody>
          <a:bodyPr vert="horz" lIns="91440" tIns="45720" rIns="91440" bIns="45720" rtlCol="0" anchor="ctr"/>
          <a:lstStyle>
            <a:lvl1pPr algn="ctr">
              <a:defRPr sz="1200" b="1" spc="150" baseline="0">
                <a:solidFill>
                  <a:schemeClr val="tx1"/>
                </a:solidFill>
                <a:latin typeface="+mn-lt"/>
              </a:defRPr>
            </a:lvl1pPr>
          </a:lstStyle>
          <a:p>
            <a:fld id="{18D65601-5AE2-46FC-B138-694DDD2B510D}" type="slidenum">
              <a:rPr lang="en-US" smtClean="0"/>
              <a:pPr/>
              <a:t>‹#›</a:t>
            </a:fld>
            <a:endParaRPr lang="en-US"/>
          </a:p>
        </p:txBody>
      </p:sp>
    </p:spTree>
    <p:extLst>
      <p:ext uri="{BB962C8B-B14F-4D97-AF65-F5344CB8AC3E}">
        <p14:creationId xmlns:p14="http://schemas.microsoft.com/office/powerpoint/2010/main" val="737433849"/>
      </p:ext>
    </p:extLst>
  </p:cSld>
  <p:clrMap bg1="lt1" tx1="dk1" bg2="lt2" tx2="dk2" accent1="accent1" accent2="accent2" accent3="accent3" accent4="accent4" accent5="accent5" accent6="accent6" hlink="hlink" folHlink="folHlink"/>
  <p:sldLayoutIdLst>
    <p:sldLayoutId id="2147483694" r:id="rId1"/>
    <p:sldLayoutId id="2147483693"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2" r:id="rId12"/>
    <p:sldLayoutId id="214748368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54C9E-20FB-B999-9303-C71D1334BAD7}"/>
              </a:ext>
            </a:extLst>
          </p:cNvPr>
          <p:cNvSpPr>
            <a:spLocks noGrp="1"/>
          </p:cNvSpPr>
          <p:nvPr>
            <p:ph type="title"/>
          </p:nvPr>
        </p:nvSpPr>
        <p:spPr>
          <a:xfrm>
            <a:off x="1317615" y="690511"/>
            <a:ext cx="6625154" cy="5253089"/>
          </a:xfrm>
        </p:spPr>
        <p:txBody>
          <a:bodyPr/>
          <a:lstStyle/>
          <a:p>
            <a:r>
              <a:rPr lang="en-US" dirty="0"/>
              <a:t>Understanding "Attention</a:t>
            </a:r>
            <a:r>
              <a:rPr lang="en-US" dirty="0">
                <a:ea typeface="+mj-lt"/>
                <a:cs typeface="+mj-lt"/>
              </a:rPr>
              <a:t> Is All You Need"</a:t>
            </a:r>
            <a:endParaRPr lang="en-US" dirty="0"/>
          </a:p>
        </p:txBody>
      </p:sp>
    </p:spTree>
    <p:extLst>
      <p:ext uri="{BB962C8B-B14F-4D97-AF65-F5344CB8AC3E}">
        <p14:creationId xmlns:p14="http://schemas.microsoft.com/office/powerpoint/2010/main" val="337882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97761-0B88-A5E8-0B78-C39173D05F4D}"/>
              </a:ext>
            </a:extLst>
          </p:cNvPr>
          <p:cNvSpPr>
            <a:spLocks noGrp="1"/>
          </p:cNvSpPr>
          <p:nvPr>
            <p:ph type="title"/>
          </p:nvPr>
        </p:nvSpPr>
        <p:spPr>
          <a:xfrm>
            <a:off x="1455583" y="737115"/>
            <a:ext cx="4640418" cy="5407091"/>
          </a:xfrm>
        </p:spPr>
        <p:txBody>
          <a:bodyPr/>
          <a:lstStyle/>
          <a:p>
            <a:r>
              <a:rPr lang="en-US"/>
              <a:t>Agenda</a:t>
            </a:r>
          </a:p>
        </p:txBody>
      </p:sp>
      <p:sp>
        <p:nvSpPr>
          <p:cNvPr id="3" name="Content Placeholder 2">
            <a:extLst>
              <a:ext uri="{FF2B5EF4-FFF2-40B4-BE49-F238E27FC236}">
                <a16:creationId xmlns:a16="http://schemas.microsoft.com/office/drawing/2014/main" id="{02BA04E6-CD61-B962-4287-DEC1993C32D6}"/>
              </a:ext>
            </a:extLst>
          </p:cNvPr>
          <p:cNvSpPr>
            <a:spLocks noGrp="1"/>
          </p:cNvSpPr>
          <p:nvPr>
            <p:ph sz="quarter" idx="12"/>
          </p:nvPr>
        </p:nvSpPr>
        <p:spPr>
          <a:xfrm>
            <a:off x="6388461" y="737115"/>
            <a:ext cx="4449712" cy="5407091"/>
          </a:xfrm>
        </p:spPr>
        <p:txBody>
          <a:bodyPr/>
          <a:lstStyle/>
          <a:p>
            <a:r>
              <a:rPr lang="en-US" dirty="0"/>
              <a:t>Natural Language Processing (NLP)</a:t>
            </a:r>
          </a:p>
          <a:p>
            <a:r>
              <a:rPr lang="en-US" dirty="0"/>
              <a:t>Introduction</a:t>
            </a:r>
          </a:p>
          <a:p>
            <a:r>
              <a:rPr lang="en-US" dirty="0"/>
              <a:t>The</a:t>
            </a:r>
            <a:r>
              <a:rPr lang="en-US" dirty="0">
                <a:ea typeface="+mn-lt"/>
                <a:cs typeface="+mn-lt"/>
              </a:rPr>
              <a:t> Transformer Architecture</a:t>
            </a:r>
          </a:p>
          <a:p>
            <a:r>
              <a:rPr lang="en-US" dirty="0">
                <a:ea typeface="+mn-lt"/>
                <a:cs typeface="+mn-lt"/>
              </a:rPr>
              <a:t>Advantages Over Previous Models</a:t>
            </a:r>
          </a:p>
          <a:p>
            <a:r>
              <a:rPr lang="en-US" dirty="0">
                <a:ea typeface="+mn-lt"/>
                <a:cs typeface="+mn-lt"/>
              </a:rPr>
              <a:t>Training the Transformer</a:t>
            </a:r>
          </a:p>
          <a:p>
            <a:r>
              <a:rPr lang="en-US" dirty="0">
                <a:ea typeface="+mn-lt"/>
                <a:cs typeface="+mn-lt"/>
              </a:rPr>
              <a:t>Conclusion</a:t>
            </a:r>
            <a:endParaRPr lang="en-US" dirty="0"/>
          </a:p>
        </p:txBody>
      </p:sp>
      <p:sp>
        <p:nvSpPr>
          <p:cNvPr id="4" name="Slide Number Placeholder 3">
            <a:extLst>
              <a:ext uri="{FF2B5EF4-FFF2-40B4-BE49-F238E27FC236}">
                <a16:creationId xmlns:a16="http://schemas.microsoft.com/office/drawing/2014/main" id="{2CD4601E-33F5-5714-867D-A0B584DA7C11}"/>
              </a:ext>
            </a:extLst>
          </p:cNvPr>
          <p:cNvSpPr>
            <a:spLocks noGrp="1"/>
          </p:cNvSpPr>
          <p:nvPr>
            <p:ph type="sldNum" sz="quarter" idx="15"/>
          </p:nvPr>
        </p:nvSpPr>
        <p:spPr/>
        <p:txBody>
          <a:bodyPr/>
          <a:lstStyle/>
          <a:p>
            <a:fld id="{18D65601-5AE2-46FC-B138-694DDD2B510D}" type="slidenum">
              <a:rPr lang="en-US" smtClean="0"/>
              <a:pPr/>
              <a:t>2</a:t>
            </a:fld>
            <a:endParaRPr lang="en-US"/>
          </a:p>
        </p:txBody>
      </p:sp>
    </p:spTree>
    <p:extLst>
      <p:ext uri="{BB962C8B-B14F-4D97-AF65-F5344CB8AC3E}">
        <p14:creationId xmlns:p14="http://schemas.microsoft.com/office/powerpoint/2010/main" val="1607455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D0E47E-D228-15EB-5886-33E9AA181D03}"/>
              </a:ext>
            </a:extLst>
          </p:cNvPr>
          <p:cNvSpPr>
            <a:spLocks noGrp="1"/>
          </p:cNvSpPr>
          <p:nvPr>
            <p:ph type="title"/>
          </p:nvPr>
        </p:nvSpPr>
        <p:spPr>
          <a:xfrm>
            <a:off x="1353827" y="1278294"/>
            <a:ext cx="5000318" cy="4904141"/>
          </a:xfrm>
        </p:spPr>
        <p:txBody>
          <a:bodyPr/>
          <a:lstStyle/>
          <a:p>
            <a:r>
              <a:rPr lang="en-US"/>
              <a:t>Natural Language Processing (NLP)</a:t>
            </a:r>
          </a:p>
        </p:txBody>
      </p:sp>
    </p:spTree>
    <p:extLst>
      <p:ext uri="{BB962C8B-B14F-4D97-AF65-F5344CB8AC3E}">
        <p14:creationId xmlns:p14="http://schemas.microsoft.com/office/powerpoint/2010/main" val="3752118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04A6E-7BF6-0ADD-F254-F1D08F9E6A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772A6-7A91-E188-320C-BD94D1EC8379}"/>
              </a:ext>
            </a:extLst>
          </p:cNvPr>
          <p:cNvSpPr>
            <a:spLocks noGrp="1"/>
          </p:cNvSpPr>
          <p:nvPr>
            <p:ph type="title"/>
          </p:nvPr>
        </p:nvSpPr>
        <p:spPr>
          <a:xfrm>
            <a:off x="1468815" y="503852"/>
            <a:ext cx="9150675" cy="1427585"/>
          </a:xfrm>
        </p:spPr>
        <p:txBody>
          <a:bodyPr/>
          <a:lstStyle/>
          <a:p>
            <a:r>
              <a:rPr lang="en-US"/>
              <a:t>Natural Language Processing (NLP)</a:t>
            </a:r>
            <a:endParaRPr lang="en-ZA"/>
          </a:p>
        </p:txBody>
      </p:sp>
      <p:sp>
        <p:nvSpPr>
          <p:cNvPr id="3" name="Content Placeholder 2">
            <a:extLst>
              <a:ext uri="{FF2B5EF4-FFF2-40B4-BE49-F238E27FC236}">
                <a16:creationId xmlns:a16="http://schemas.microsoft.com/office/drawing/2014/main" id="{87204162-D085-05FE-8BF6-F95638BE938A}"/>
              </a:ext>
            </a:extLst>
          </p:cNvPr>
          <p:cNvSpPr>
            <a:spLocks noGrp="1"/>
          </p:cNvSpPr>
          <p:nvPr>
            <p:ph sz="quarter" idx="12"/>
          </p:nvPr>
        </p:nvSpPr>
        <p:spPr>
          <a:xfrm>
            <a:off x="1467670" y="2108722"/>
            <a:ext cx="8902609" cy="4154497"/>
          </a:xfrm>
        </p:spPr>
        <p:txBody>
          <a:bodyPr vert="horz" lIns="0" tIns="0" rIns="0" bIns="0" rtlCol="0" anchor="t">
            <a:normAutofit fontScale="92500"/>
          </a:bodyPr>
          <a:lstStyle/>
          <a:p>
            <a:pPr algn="just">
              <a:lnSpc>
                <a:spcPct val="150000"/>
              </a:lnSpc>
            </a:pPr>
            <a:r>
              <a:rPr lang="en-US" sz="1900"/>
              <a:t>Natural</a:t>
            </a:r>
            <a:r>
              <a:rPr lang="en-US" sz="1900">
                <a:ea typeface="+mn-lt"/>
                <a:cs typeface="+mn-lt"/>
              </a:rPr>
              <a:t> language processing (NLP) is a branch of artificial intelligence that focuses on enabling computers to understand, interpret, and generate human language. </a:t>
            </a:r>
            <a:endParaRPr lang="en-US" sz="1900"/>
          </a:p>
          <a:p>
            <a:pPr algn="just">
              <a:lnSpc>
                <a:spcPct val="150000"/>
              </a:lnSpc>
            </a:pPr>
            <a:r>
              <a:rPr lang="en-US" sz="1900">
                <a:ea typeface="+mn-lt"/>
                <a:cs typeface="+mn-lt"/>
              </a:rPr>
              <a:t>Also known as computational linguistics, NLP combines advanced machine learning algorithms with linguistic rules to process written and spoken languages.</a:t>
            </a:r>
          </a:p>
          <a:p>
            <a:pPr algn="just">
              <a:lnSpc>
                <a:spcPct val="150000"/>
              </a:lnSpc>
            </a:pPr>
            <a:r>
              <a:rPr lang="en-US" sz="1900">
                <a:ea typeface="+mn-lt"/>
                <a:cs typeface="+mn-lt"/>
              </a:rPr>
              <a:t>The goal of NLP is to achieve human-level language understanding, allowing software to “read” enormous volumes of documents, analyze sentiment and topics, generate summaries, translate between languages, and even create original text.</a:t>
            </a:r>
            <a:endParaRPr lang="en-US" sz="1900"/>
          </a:p>
        </p:txBody>
      </p:sp>
      <p:sp>
        <p:nvSpPr>
          <p:cNvPr id="4" name="Slide Number Placeholder 3">
            <a:extLst>
              <a:ext uri="{FF2B5EF4-FFF2-40B4-BE49-F238E27FC236}">
                <a16:creationId xmlns:a16="http://schemas.microsoft.com/office/drawing/2014/main" id="{CD7EA1E1-7360-FF60-0138-E18E98A13442}"/>
              </a:ext>
            </a:extLst>
          </p:cNvPr>
          <p:cNvSpPr>
            <a:spLocks noGrp="1"/>
          </p:cNvSpPr>
          <p:nvPr>
            <p:ph type="sldNum" sz="quarter" idx="15"/>
          </p:nvPr>
        </p:nvSpPr>
        <p:spPr/>
        <p:txBody>
          <a:bodyPr/>
          <a:lstStyle/>
          <a:p>
            <a:fld id="{18D65601-5AE2-46FC-B138-694DDD2B510D}" type="slidenum">
              <a:rPr lang="en-US" smtClean="0"/>
              <a:pPr/>
              <a:t>4</a:t>
            </a:fld>
            <a:endParaRPr lang="en-US"/>
          </a:p>
        </p:txBody>
      </p:sp>
    </p:spTree>
    <p:extLst>
      <p:ext uri="{BB962C8B-B14F-4D97-AF65-F5344CB8AC3E}">
        <p14:creationId xmlns:p14="http://schemas.microsoft.com/office/powerpoint/2010/main" val="4144251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1E61F-C042-EA91-2C30-8DBA8A945C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2E19FF-DA94-C020-248F-305F0EAEF5B7}"/>
              </a:ext>
            </a:extLst>
          </p:cNvPr>
          <p:cNvSpPr>
            <a:spLocks noGrp="1"/>
          </p:cNvSpPr>
          <p:nvPr>
            <p:ph type="title"/>
          </p:nvPr>
        </p:nvSpPr>
        <p:spPr>
          <a:xfrm>
            <a:off x="1468815" y="503852"/>
            <a:ext cx="9150675" cy="1427585"/>
          </a:xfrm>
        </p:spPr>
        <p:txBody>
          <a:bodyPr/>
          <a:lstStyle/>
          <a:p>
            <a:r>
              <a:rPr lang="en-US"/>
              <a:t>Natural Language Processing (NLP)</a:t>
            </a:r>
            <a:endParaRPr lang="en-ZA"/>
          </a:p>
        </p:txBody>
      </p:sp>
      <p:sp>
        <p:nvSpPr>
          <p:cNvPr id="3" name="Content Placeholder 2">
            <a:extLst>
              <a:ext uri="{FF2B5EF4-FFF2-40B4-BE49-F238E27FC236}">
                <a16:creationId xmlns:a16="http://schemas.microsoft.com/office/drawing/2014/main" id="{ED8B1984-70AD-3E93-B76C-6BA18093E128}"/>
              </a:ext>
            </a:extLst>
          </p:cNvPr>
          <p:cNvSpPr>
            <a:spLocks noGrp="1"/>
          </p:cNvSpPr>
          <p:nvPr>
            <p:ph sz="quarter" idx="12"/>
          </p:nvPr>
        </p:nvSpPr>
        <p:spPr>
          <a:xfrm>
            <a:off x="1467670" y="2108722"/>
            <a:ext cx="8902609" cy="4154497"/>
          </a:xfrm>
        </p:spPr>
        <p:txBody>
          <a:bodyPr vert="horz" lIns="0" tIns="0" rIns="0" bIns="0" rtlCol="0" anchor="t">
            <a:normAutofit/>
          </a:bodyPr>
          <a:lstStyle/>
          <a:p>
            <a:pPr algn="just">
              <a:lnSpc>
                <a:spcPct val="150000"/>
              </a:lnSpc>
            </a:pPr>
            <a:r>
              <a:rPr lang="en-US" sz="1800"/>
              <a:t>NLP</a:t>
            </a:r>
            <a:r>
              <a:rPr lang="en-US" sz="1800">
                <a:ea typeface="+mn-lt"/>
                <a:cs typeface="+mn-lt"/>
              </a:rPr>
              <a:t> can be broadly divided into two main categories:</a:t>
            </a:r>
          </a:p>
          <a:p>
            <a:pPr lvl="1" algn="just">
              <a:lnSpc>
                <a:spcPct val="150000"/>
              </a:lnSpc>
              <a:buFont typeface="Courier New" panose="020B0604020202020204" pitchFamily="34" charset="0"/>
              <a:buChar char="o"/>
            </a:pPr>
            <a:r>
              <a:rPr lang="en-US" sz="1800">
                <a:ea typeface="+mn-lt"/>
                <a:cs typeface="+mn-lt"/>
              </a:rPr>
              <a:t>Natural language understanding (NLU)</a:t>
            </a:r>
          </a:p>
          <a:p>
            <a:pPr lvl="1" algn="just">
              <a:lnSpc>
                <a:spcPct val="150000"/>
              </a:lnSpc>
              <a:buFont typeface="Courier New" panose="020B0604020202020204" pitchFamily="34" charset="0"/>
              <a:buChar char="o"/>
            </a:pPr>
            <a:r>
              <a:rPr lang="en-US" sz="1800">
                <a:ea typeface="+mn-lt"/>
                <a:cs typeface="+mn-lt"/>
              </a:rPr>
              <a:t>Natural language generation (NLG)</a:t>
            </a:r>
          </a:p>
        </p:txBody>
      </p:sp>
      <p:sp>
        <p:nvSpPr>
          <p:cNvPr id="4" name="Slide Number Placeholder 3">
            <a:extLst>
              <a:ext uri="{FF2B5EF4-FFF2-40B4-BE49-F238E27FC236}">
                <a16:creationId xmlns:a16="http://schemas.microsoft.com/office/drawing/2014/main" id="{9A830C14-9FB3-0F39-2821-19FC2DD6E946}"/>
              </a:ext>
            </a:extLst>
          </p:cNvPr>
          <p:cNvSpPr>
            <a:spLocks noGrp="1"/>
          </p:cNvSpPr>
          <p:nvPr>
            <p:ph type="sldNum" sz="quarter" idx="15"/>
          </p:nvPr>
        </p:nvSpPr>
        <p:spPr/>
        <p:txBody>
          <a:bodyPr/>
          <a:lstStyle/>
          <a:p>
            <a:fld id="{18D65601-5AE2-46FC-B138-694DDD2B510D}" type="slidenum">
              <a:rPr lang="en-US" smtClean="0"/>
              <a:pPr/>
              <a:t>5</a:t>
            </a:fld>
            <a:endParaRPr lang="en-US"/>
          </a:p>
        </p:txBody>
      </p:sp>
    </p:spTree>
    <p:extLst>
      <p:ext uri="{BB962C8B-B14F-4D97-AF65-F5344CB8AC3E}">
        <p14:creationId xmlns:p14="http://schemas.microsoft.com/office/powerpoint/2010/main" val="1719803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4566A-3858-CDE2-9AA6-1EE695D768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F1054A-CE58-E4EA-B3D0-E9CC0737AAC2}"/>
              </a:ext>
            </a:extLst>
          </p:cNvPr>
          <p:cNvSpPr>
            <a:spLocks noGrp="1"/>
          </p:cNvSpPr>
          <p:nvPr>
            <p:ph type="title"/>
          </p:nvPr>
        </p:nvSpPr>
        <p:spPr>
          <a:xfrm>
            <a:off x="1468815" y="503852"/>
            <a:ext cx="9150675" cy="1427585"/>
          </a:xfrm>
        </p:spPr>
        <p:txBody>
          <a:bodyPr/>
          <a:lstStyle/>
          <a:p>
            <a:r>
              <a:rPr lang="en-US"/>
              <a:t>Natural</a:t>
            </a:r>
            <a:r>
              <a:rPr lang="en-US">
                <a:ea typeface="+mj-lt"/>
                <a:cs typeface="+mj-lt"/>
              </a:rPr>
              <a:t> language understanding (NLU)</a:t>
            </a:r>
            <a:endParaRPr lang="en-US"/>
          </a:p>
        </p:txBody>
      </p:sp>
      <p:sp>
        <p:nvSpPr>
          <p:cNvPr id="3" name="Content Placeholder 2">
            <a:extLst>
              <a:ext uri="{FF2B5EF4-FFF2-40B4-BE49-F238E27FC236}">
                <a16:creationId xmlns:a16="http://schemas.microsoft.com/office/drawing/2014/main" id="{C7B139D9-4662-79F0-C712-DD2EE1E49766}"/>
              </a:ext>
            </a:extLst>
          </p:cNvPr>
          <p:cNvSpPr>
            <a:spLocks noGrp="1"/>
          </p:cNvSpPr>
          <p:nvPr>
            <p:ph sz="quarter" idx="12"/>
          </p:nvPr>
        </p:nvSpPr>
        <p:spPr>
          <a:xfrm>
            <a:off x="1467670" y="2108722"/>
            <a:ext cx="8902609" cy="4154497"/>
          </a:xfrm>
        </p:spPr>
        <p:txBody>
          <a:bodyPr vert="horz" lIns="0" tIns="0" rIns="0" bIns="0" rtlCol="0" anchor="t">
            <a:normAutofit/>
          </a:bodyPr>
          <a:lstStyle/>
          <a:p>
            <a:pPr algn="just">
              <a:lnSpc>
                <a:spcPct val="150000"/>
              </a:lnSpc>
            </a:pPr>
            <a:r>
              <a:rPr lang="en-US" sz="1800"/>
              <a:t>Natural</a:t>
            </a:r>
            <a:r>
              <a:rPr lang="en-US" sz="1800">
                <a:ea typeface="+mn-lt"/>
                <a:cs typeface="+mn-lt"/>
              </a:rPr>
              <a:t> language understanding is how AI makes sense of text or speech. The word “understand” is a bit of a misnomer because computers don’t inherently understand anything; rather, they can process inputs in a way that leads to outputs that make sense to humans.</a:t>
            </a:r>
          </a:p>
          <a:p>
            <a:pPr algn="just">
              <a:lnSpc>
                <a:spcPct val="150000"/>
              </a:lnSpc>
            </a:pPr>
            <a:r>
              <a:rPr lang="en-US" sz="1800">
                <a:ea typeface="+mn-lt"/>
                <a:cs typeface="+mn-lt"/>
              </a:rPr>
              <a:t>Language is notoriously difficult to describe thoroughly. Even if you manage to document all the words and rules of the standard version of any given language, there are complications such as dialects, slang, sarcasm, context, and how these things change over time.</a:t>
            </a:r>
            <a:endParaRPr lang="en-US" sz="1800"/>
          </a:p>
          <a:p>
            <a:pPr algn="just">
              <a:lnSpc>
                <a:spcPct val="150000"/>
              </a:lnSpc>
            </a:pPr>
            <a:endParaRPr lang="en-US" sz="1900"/>
          </a:p>
        </p:txBody>
      </p:sp>
      <p:sp>
        <p:nvSpPr>
          <p:cNvPr id="4" name="Slide Number Placeholder 3">
            <a:extLst>
              <a:ext uri="{FF2B5EF4-FFF2-40B4-BE49-F238E27FC236}">
                <a16:creationId xmlns:a16="http://schemas.microsoft.com/office/drawing/2014/main" id="{CDE0A2F6-D14A-7574-8C84-873926BEF81B}"/>
              </a:ext>
            </a:extLst>
          </p:cNvPr>
          <p:cNvSpPr>
            <a:spLocks noGrp="1"/>
          </p:cNvSpPr>
          <p:nvPr>
            <p:ph type="sldNum" sz="quarter" idx="15"/>
          </p:nvPr>
        </p:nvSpPr>
        <p:spPr/>
        <p:txBody>
          <a:bodyPr/>
          <a:lstStyle/>
          <a:p>
            <a:fld id="{18D65601-5AE2-46FC-B138-694DDD2B510D}" type="slidenum">
              <a:rPr lang="en-US" smtClean="0"/>
              <a:pPr/>
              <a:t>6</a:t>
            </a:fld>
            <a:endParaRPr lang="en-US"/>
          </a:p>
        </p:txBody>
      </p:sp>
    </p:spTree>
    <p:extLst>
      <p:ext uri="{BB962C8B-B14F-4D97-AF65-F5344CB8AC3E}">
        <p14:creationId xmlns:p14="http://schemas.microsoft.com/office/powerpoint/2010/main" val="2387112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4639D-C79B-5370-413A-0DD391B7AD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2A1B32-54F4-2DA4-E962-3526B3E72910}"/>
              </a:ext>
            </a:extLst>
          </p:cNvPr>
          <p:cNvSpPr>
            <a:spLocks noGrp="1"/>
          </p:cNvSpPr>
          <p:nvPr>
            <p:ph type="title"/>
          </p:nvPr>
        </p:nvSpPr>
        <p:spPr>
          <a:xfrm>
            <a:off x="1468815" y="503852"/>
            <a:ext cx="9150675" cy="1427585"/>
          </a:xfrm>
        </p:spPr>
        <p:txBody>
          <a:bodyPr/>
          <a:lstStyle/>
          <a:p>
            <a:r>
              <a:rPr lang="en-US"/>
              <a:t>Natural</a:t>
            </a:r>
            <a:r>
              <a:rPr lang="en-US">
                <a:ea typeface="+mj-lt"/>
                <a:cs typeface="+mj-lt"/>
              </a:rPr>
              <a:t> language generation (NLG)</a:t>
            </a:r>
            <a:endParaRPr lang="en-US"/>
          </a:p>
        </p:txBody>
      </p:sp>
      <p:sp>
        <p:nvSpPr>
          <p:cNvPr id="3" name="Content Placeholder 2">
            <a:extLst>
              <a:ext uri="{FF2B5EF4-FFF2-40B4-BE49-F238E27FC236}">
                <a16:creationId xmlns:a16="http://schemas.microsoft.com/office/drawing/2014/main" id="{220B4B02-36A0-CD32-CB11-8B7126637E8B}"/>
              </a:ext>
            </a:extLst>
          </p:cNvPr>
          <p:cNvSpPr>
            <a:spLocks noGrp="1"/>
          </p:cNvSpPr>
          <p:nvPr>
            <p:ph sz="quarter" idx="12"/>
          </p:nvPr>
        </p:nvSpPr>
        <p:spPr>
          <a:xfrm>
            <a:off x="1467670" y="2108722"/>
            <a:ext cx="8902609" cy="4154497"/>
          </a:xfrm>
        </p:spPr>
        <p:txBody>
          <a:bodyPr vert="horz" lIns="0" tIns="0" rIns="0" bIns="0" rtlCol="0" anchor="t">
            <a:normAutofit lnSpcReduction="10000"/>
          </a:bodyPr>
          <a:lstStyle/>
          <a:p>
            <a:pPr algn="just">
              <a:lnSpc>
                <a:spcPct val="150000"/>
              </a:lnSpc>
            </a:pPr>
            <a:r>
              <a:rPr lang="en-US" sz="1800"/>
              <a:t>Recently</a:t>
            </a:r>
            <a:r>
              <a:rPr lang="en-US" sz="1800">
                <a:ea typeface="+mn-lt"/>
                <a:cs typeface="+mn-lt"/>
              </a:rPr>
              <a:t>, computers’ ability to create language is getting much more attention. In fact, the text part of generative AI is a form of natural language generation.</a:t>
            </a:r>
            <a:endParaRPr lang="en-US" sz="1800"/>
          </a:p>
          <a:p>
            <a:pPr algn="just">
              <a:lnSpc>
                <a:spcPct val="150000"/>
              </a:lnSpc>
            </a:pPr>
            <a:r>
              <a:rPr lang="en-US" sz="1800">
                <a:ea typeface="+mn-lt"/>
                <a:cs typeface="+mn-lt"/>
              </a:rPr>
              <a:t>Today’s NLG is essentially a very sophisticated guessing game. Rather than inherently understanding the rules of grammar, generative AI models spit out text a word at a time through probabilistic models that consider the context of their response.</a:t>
            </a:r>
            <a:endParaRPr lang="en-US" sz="1800"/>
          </a:p>
          <a:p>
            <a:pPr algn="just">
              <a:lnSpc>
                <a:spcPct val="150000"/>
              </a:lnSpc>
            </a:pPr>
            <a:r>
              <a:rPr lang="en-US" sz="1800">
                <a:ea typeface="+mn-lt"/>
                <a:cs typeface="+mn-lt"/>
              </a:rPr>
              <a:t>Because today’s large language models (LLMs) have been trained on so much text, their output generally comes across as good human speech, even if sometimes the content is off. (More on that later.)</a:t>
            </a:r>
          </a:p>
          <a:p>
            <a:pPr algn="just">
              <a:lnSpc>
                <a:spcPct val="150000"/>
              </a:lnSpc>
            </a:pPr>
            <a:endParaRPr lang="en-US" sz="1900"/>
          </a:p>
        </p:txBody>
      </p:sp>
      <p:sp>
        <p:nvSpPr>
          <p:cNvPr id="4" name="Slide Number Placeholder 3">
            <a:extLst>
              <a:ext uri="{FF2B5EF4-FFF2-40B4-BE49-F238E27FC236}">
                <a16:creationId xmlns:a16="http://schemas.microsoft.com/office/drawing/2014/main" id="{EA30180B-F4BA-0872-8B74-8F5D9837CB05}"/>
              </a:ext>
            </a:extLst>
          </p:cNvPr>
          <p:cNvSpPr>
            <a:spLocks noGrp="1"/>
          </p:cNvSpPr>
          <p:nvPr>
            <p:ph type="sldNum" sz="quarter" idx="15"/>
          </p:nvPr>
        </p:nvSpPr>
        <p:spPr/>
        <p:txBody>
          <a:bodyPr/>
          <a:lstStyle/>
          <a:p>
            <a:fld id="{18D65601-5AE2-46FC-B138-694DDD2B510D}" type="slidenum">
              <a:rPr lang="en-US" smtClean="0"/>
              <a:pPr/>
              <a:t>7</a:t>
            </a:fld>
            <a:endParaRPr lang="en-US"/>
          </a:p>
        </p:txBody>
      </p:sp>
    </p:spTree>
    <p:extLst>
      <p:ext uri="{BB962C8B-B14F-4D97-AF65-F5344CB8AC3E}">
        <p14:creationId xmlns:p14="http://schemas.microsoft.com/office/powerpoint/2010/main" val="1773498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C0FEFBF-60FD-0161-6F6E-89EE39389CEE}"/>
              </a:ext>
            </a:extLst>
          </p:cNvPr>
          <p:cNvSpPr>
            <a:spLocks noGrp="1"/>
          </p:cNvSpPr>
          <p:nvPr>
            <p:ph type="title"/>
          </p:nvPr>
        </p:nvSpPr>
        <p:spPr>
          <a:xfrm>
            <a:off x="1353827" y="3508311"/>
            <a:ext cx="9923770" cy="1438762"/>
          </a:xfrm>
        </p:spPr>
        <p:txBody>
          <a:bodyPr/>
          <a:lstStyle/>
          <a:p>
            <a:r>
              <a:rPr lang="en-US" dirty="0"/>
              <a:t>Introduction</a:t>
            </a:r>
            <a:endParaRPr lang="en-ZA" dirty="0"/>
          </a:p>
        </p:txBody>
      </p:sp>
      <p:sp>
        <p:nvSpPr>
          <p:cNvPr id="8" name="Text Placeholder 7">
            <a:extLst>
              <a:ext uri="{FF2B5EF4-FFF2-40B4-BE49-F238E27FC236}">
                <a16:creationId xmlns:a16="http://schemas.microsoft.com/office/drawing/2014/main" id="{DD542008-8017-76E5-ABC0-32401068875D}"/>
              </a:ext>
            </a:extLst>
          </p:cNvPr>
          <p:cNvSpPr>
            <a:spLocks noGrp="1"/>
          </p:cNvSpPr>
          <p:nvPr>
            <p:ph type="body" sz="quarter" idx="12"/>
          </p:nvPr>
        </p:nvSpPr>
        <p:spPr>
          <a:xfrm>
            <a:off x="1353828" y="5228488"/>
            <a:ext cx="9923770" cy="1368256"/>
          </a:xfrm>
        </p:spPr>
        <p:txBody>
          <a:bodyPr/>
          <a:lstStyle/>
          <a:p>
            <a:r>
              <a:rPr lang="en-US" dirty="0"/>
              <a:t>What</a:t>
            </a:r>
            <a:r>
              <a:rPr lang="en-US" dirty="0">
                <a:ea typeface="+mn-lt"/>
                <a:cs typeface="+mn-lt"/>
              </a:rPr>
              <a:t> Problem Does the Paper Solve?</a:t>
            </a:r>
            <a:endParaRPr lang="en-US" dirty="0"/>
          </a:p>
        </p:txBody>
      </p:sp>
    </p:spTree>
    <p:extLst>
      <p:ext uri="{BB962C8B-B14F-4D97-AF65-F5344CB8AC3E}">
        <p14:creationId xmlns:p14="http://schemas.microsoft.com/office/powerpoint/2010/main" val="3421680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E32BC-ECEF-60A2-5936-64B27DDB3A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BB9B2D-497E-ACA7-D395-7ACC4F23C904}"/>
              </a:ext>
            </a:extLst>
          </p:cNvPr>
          <p:cNvSpPr>
            <a:spLocks noGrp="1"/>
          </p:cNvSpPr>
          <p:nvPr>
            <p:ph type="title"/>
          </p:nvPr>
        </p:nvSpPr>
        <p:spPr>
          <a:xfrm>
            <a:off x="1468815" y="503852"/>
            <a:ext cx="9150675" cy="1427585"/>
          </a:xfrm>
        </p:spPr>
        <p:txBody>
          <a:bodyPr/>
          <a:lstStyle/>
          <a:p>
            <a:r>
              <a:rPr lang="en-US" dirty="0"/>
              <a:t>Introduction</a:t>
            </a:r>
          </a:p>
        </p:txBody>
      </p:sp>
      <p:sp>
        <p:nvSpPr>
          <p:cNvPr id="3" name="Content Placeholder 2">
            <a:extLst>
              <a:ext uri="{FF2B5EF4-FFF2-40B4-BE49-F238E27FC236}">
                <a16:creationId xmlns:a16="http://schemas.microsoft.com/office/drawing/2014/main" id="{FA283B55-AFBA-E570-D72B-B35CA5E55B93}"/>
              </a:ext>
            </a:extLst>
          </p:cNvPr>
          <p:cNvSpPr>
            <a:spLocks noGrp="1"/>
          </p:cNvSpPr>
          <p:nvPr>
            <p:ph sz="quarter" idx="12"/>
          </p:nvPr>
        </p:nvSpPr>
        <p:spPr>
          <a:xfrm>
            <a:off x="1467670" y="2108722"/>
            <a:ext cx="8902609" cy="4154497"/>
          </a:xfrm>
        </p:spPr>
        <p:txBody>
          <a:bodyPr vert="horz" lIns="0" tIns="0" rIns="0" bIns="0" rtlCol="0" anchor="t">
            <a:normAutofit/>
          </a:bodyPr>
          <a:lstStyle/>
          <a:p>
            <a:pPr algn="just">
              <a:lnSpc>
                <a:spcPct val="150000"/>
              </a:lnSpc>
            </a:pPr>
            <a:r>
              <a:rPr lang="en-US" sz="1800" dirty="0"/>
              <a:t>In</a:t>
            </a:r>
            <a:r>
              <a:rPr lang="en-US" sz="1800" dirty="0">
                <a:ea typeface="+mn-lt"/>
                <a:cs typeface="+mn-lt"/>
              </a:rPr>
              <a:t> 2017, Vaswani et al. published a groundbreaking paper titled "Attention Is All You Need" at the Neural Information Processing Systems (NIPS) conference. The paper introduced the Transformer architecture, a new neural network model for natural language processing (NLP) tasks that relies solely on attention mechanisms to process input sequences.</a:t>
            </a:r>
            <a:endParaRPr lang="en-US" sz="1800" dirty="0"/>
          </a:p>
          <a:p>
            <a:pPr algn="just">
              <a:lnSpc>
                <a:spcPct val="150000"/>
              </a:lnSpc>
            </a:pPr>
            <a:r>
              <a:rPr lang="en-US" sz="1800" dirty="0">
                <a:ea typeface="+mn-lt"/>
                <a:cs typeface="+mn-lt"/>
              </a:rPr>
              <a:t>It is considered a foundational paper in modern artificial intelligence, and a main contributor to the AI boom, as the transformer approach has become the main architecture of a wide variety of AI, such as large language models. </a:t>
            </a:r>
          </a:p>
          <a:p>
            <a:pPr algn="just">
              <a:lnSpc>
                <a:spcPct val="150000"/>
              </a:lnSpc>
            </a:pPr>
            <a:endParaRPr lang="en-US" sz="1900">
              <a:ea typeface="+mn-lt"/>
              <a:cs typeface="+mn-lt"/>
            </a:endParaRPr>
          </a:p>
        </p:txBody>
      </p:sp>
      <p:sp>
        <p:nvSpPr>
          <p:cNvPr id="4" name="Slide Number Placeholder 3">
            <a:extLst>
              <a:ext uri="{FF2B5EF4-FFF2-40B4-BE49-F238E27FC236}">
                <a16:creationId xmlns:a16="http://schemas.microsoft.com/office/drawing/2014/main" id="{76197803-90A1-6E3C-7146-D134AF46616B}"/>
              </a:ext>
            </a:extLst>
          </p:cNvPr>
          <p:cNvSpPr>
            <a:spLocks noGrp="1"/>
          </p:cNvSpPr>
          <p:nvPr>
            <p:ph type="sldNum" sz="quarter" idx="15"/>
          </p:nvPr>
        </p:nvSpPr>
        <p:spPr/>
        <p:txBody>
          <a:bodyPr/>
          <a:lstStyle/>
          <a:p>
            <a:fld id="{18D65601-5AE2-46FC-B138-694DDD2B510D}" type="slidenum">
              <a:rPr lang="en-US" smtClean="0"/>
              <a:pPr/>
              <a:t>9</a:t>
            </a:fld>
            <a:endParaRPr lang="en-US"/>
          </a:p>
        </p:txBody>
      </p:sp>
    </p:spTree>
    <p:extLst>
      <p:ext uri="{BB962C8B-B14F-4D97-AF65-F5344CB8AC3E}">
        <p14:creationId xmlns:p14="http://schemas.microsoft.com/office/powerpoint/2010/main" val="2825883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A9090-5AA5-43F4-69EC-A4910C02E0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0EA296-6F1D-C557-DDD1-45610666244D}"/>
              </a:ext>
            </a:extLst>
          </p:cNvPr>
          <p:cNvSpPr>
            <a:spLocks noGrp="1"/>
          </p:cNvSpPr>
          <p:nvPr>
            <p:ph type="title"/>
          </p:nvPr>
        </p:nvSpPr>
        <p:spPr>
          <a:xfrm>
            <a:off x="1468815" y="503852"/>
            <a:ext cx="9150675" cy="1427585"/>
          </a:xfrm>
        </p:spPr>
        <p:txBody>
          <a:bodyPr/>
          <a:lstStyle/>
          <a:p>
            <a:r>
              <a:rPr lang="en-US" dirty="0"/>
              <a:t>Introduction</a:t>
            </a:r>
          </a:p>
        </p:txBody>
      </p:sp>
      <p:sp>
        <p:nvSpPr>
          <p:cNvPr id="3" name="Content Placeholder 2">
            <a:extLst>
              <a:ext uri="{FF2B5EF4-FFF2-40B4-BE49-F238E27FC236}">
                <a16:creationId xmlns:a16="http://schemas.microsoft.com/office/drawing/2014/main" id="{DDF1BFC8-C4A2-4B21-67C8-60F98B727D3A}"/>
              </a:ext>
            </a:extLst>
          </p:cNvPr>
          <p:cNvSpPr>
            <a:spLocks noGrp="1"/>
          </p:cNvSpPr>
          <p:nvPr>
            <p:ph sz="quarter" idx="12"/>
          </p:nvPr>
        </p:nvSpPr>
        <p:spPr>
          <a:xfrm>
            <a:off x="1467670" y="2108722"/>
            <a:ext cx="8902609" cy="4154497"/>
          </a:xfrm>
        </p:spPr>
        <p:txBody>
          <a:bodyPr vert="horz" lIns="0" tIns="0" rIns="0" bIns="0" rtlCol="0" anchor="t">
            <a:normAutofit/>
          </a:bodyPr>
          <a:lstStyle/>
          <a:p>
            <a:pPr algn="just">
              <a:lnSpc>
                <a:spcPct val="150000"/>
              </a:lnSpc>
            </a:pPr>
            <a:r>
              <a:rPr lang="en-US" sz="1800" dirty="0"/>
              <a:t>At</a:t>
            </a:r>
            <a:r>
              <a:rPr lang="en-US" sz="1800" dirty="0">
                <a:ea typeface="+mn-lt"/>
                <a:cs typeface="+mn-lt"/>
              </a:rPr>
              <a:t> the time, the focus of the research was on improving Seq2seq techniques for machine translation, but the authors go further in the paper, foreseeing the technique's potential for other tasks like question answering and what is now known as multimodal generative AI.</a:t>
            </a:r>
          </a:p>
          <a:p>
            <a:pPr algn="just">
              <a:lnSpc>
                <a:spcPct val="150000"/>
              </a:lnSpc>
            </a:pPr>
            <a:r>
              <a:rPr lang="en-US" sz="1800" dirty="0">
                <a:ea typeface="+mn-lt"/>
                <a:cs typeface="+mn-lt"/>
              </a:rPr>
              <a:t>As of 2025, the paper has been cited more than 173,000 times, placing it among the top ten most-cited papers of the 21st century.</a:t>
            </a:r>
          </a:p>
          <a:p>
            <a:pPr algn="just">
              <a:lnSpc>
                <a:spcPct val="150000"/>
              </a:lnSpc>
            </a:pPr>
            <a:endParaRPr lang="en-US" sz="1800" dirty="0">
              <a:ea typeface="+mn-lt"/>
              <a:cs typeface="+mn-lt"/>
            </a:endParaRPr>
          </a:p>
          <a:p>
            <a:pPr algn="just">
              <a:lnSpc>
                <a:spcPct val="150000"/>
              </a:lnSpc>
            </a:pPr>
            <a:endParaRPr lang="en-US" sz="1900">
              <a:ea typeface="+mn-lt"/>
              <a:cs typeface="+mn-lt"/>
            </a:endParaRPr>
          </a:p>
        </p:txBody>
      </p:sp>
      <p:sp>
        <p:nvSpPr>
          <p:cNvPr id="4" name="Slide Number Placeholder 3">
            <a:extLst>
              <a:ext uri="{FF2B5EF4-FFF2-40B4-BE49-F238E27FC236}">
                <a16:creationId xmlns:a16="http://schemas.microsoft.com/office/drawing/2014/main" id="{7331E1FA-4C4B-48CD-E577-6878C1E03E8A}"/>
              </a:ext>
            </a:extLst>
          </p:cNvPr>
          <p:cNvSpPr>
            <a:spLocks noGrp="1"/>
          </p:cNvSpPr>
          <p:nvPr>
            <p:ph type="sldNum" sz="quarter" idx="15"/>
          </p:nvPr>
        </p:nvSpPr>
        <p:spPr/>
        <p:txBody>
          <a:bodyPr/>
          <a:lstStyle/>
          <a:p>
            <a:fld id="{18D65601-5AE2-46FC-B138-694DDD2B510D}" type="slidenum">
              <a:rPr lang="en-US" smtClean="0"/>
              <a:pPr/>
              <a:t>10</a:t>
            </a:fld>
            <a:endParaRPr lang="en-US"/>
          </a:p>
        </p:txBody>
      </p:sp>
    </p:spTree>
    <p:extLst>
      <p:ext uri="{BB962C8B-B14F-4D97-AF65-F5344CB8AC3E}">
        <p14:creationId xmlns:p14="http://schemas.microsoft.com/office/powerpoint/2010/main" val="2941727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30E37-8AF3-C7D6-ADFB-413E98153E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121689-CD44-772A-1373-7C93A2B9BB7D}"/>
              </a:ext>
            </a:extLst>
          </p:cNvPr>
          <p:cNvSpPr>
            <a:spLocks noGrp="1"/>
          </p:cNvSpPr>
          <p:nvPr>
            <p:ph type="title"/>
          </p:nvPr>
        </p:nvSpPr>
        <p:spPr>
          <a:xfrm>
            <a:off x="1468815" y="503852"/>
            <a:ext cx="9150675" cy="1427585"/>
          </a:xfrm>
        </p:spPr>
        <p:txBody>
          <a:bodyPr/>
          <a:lstStyle/>
          <a:p>
            <a:r>
              <a:rPr lang="en-US" dirty="0">
                <a:ea typeface="+mj-lt"/>
                <a:cs typeface="+mj-lt"/>
              </a:rPr>
              <a:t>What Problem Does the Paper Solve?</a:t>
            </a:r>
            <a:endParaRPr lang="en-US" dirty="0"/>
          </a:p>
        </p:txBody>
      </p:sp>
      <p:sp>
        <p:nvSpPr>
          <p:cNvPr id="3" name="Content Placeholder 2">
            <a:extLst>
              <a:ext uri="{FF2B5EF4-FFF2-40B4-BE49-F238E27FC236}">
                <a16:creationId xmlns:a16="http://schemas.microsoft.com/office/drawing/2014/main" id="{E2FF9843-24B6-4E62-A74B-F165ED817922}"/>
              </a:ext>
            </a:extLst>
          </p:cNvPr>
          <p:cNvSpPr>
            <a:spLocks noGrp="1"/>
          </p:cNvSpPr>
          <p:nvPr>
            <p:ph sz="quarter" idx="12"/>
          </p:nvPr>
        </p:nvSpPr>
        <p:spPr>
          <a:xfrm>
            <a:off x="1467670" y="2108722"/>
            <a:ext cx="8902609" cy="4154497"/>
          </a:xfrm>
        </p:spPr>
        <p:txBody>
          <a:bodyPr vert="horz" lIns="0" tIns="0" rIns="0" bIns="0" rtlCol="0" anchor="t">
            <a:normAutofit/>
          </a:bodyPr>
          <a:lstStyle/>
          <a:p>
            <a:pPr algn="just">
              <a:lnSpc>
                <a:spcPct val="150000"/>
              </a:lnSpc>
            </a:pPr>
            <a:r>
              <a:rPr lang="en-US" sz="1800" dirty="0">
                <a:ea typeface="+mn-lt"/>
                <a:cs typeface="+mn-lt"/>
              </a:rPr>
              <a:t>Before this paper, most NLP models were based on Recurrent Neural Networks (RNNs), Long Short-Term Memory (LSTM) networks and gated RNNs. While these models worked well for sequential data like text, they had significant drawbacks:</a:t>
            </a:r>
            <a:endParaRPr lang="en-US" sz="1800"/>
          </a:p>
          <a:p>
            <a:pPr lvl="1" algn="just">
              <a:lnSpc>
                <a:spcPct val="150000"/>
              </a:lnSpc>
              <a:buFont typeface="Courier New" panose="020B0604020202020204" pitchFamily="34" charset="0"/>
              <a:buChar char="o"/>
            </a:pPr>
            <a:r>
              <a:rPr lang="en-US" sz="1800" dirty="0">
                <a:ea typeface="+mn-lt"/>
                <a:cs typeface="+mn-lt"/>
              </a:rPr>
              <a:t>Limited parallelism: RNNs process data sequentially, which makes them slow for long sequences.</a:t>
            </a:r>
            <a:endParaRPr lang="en-US" sz="1800" dirty="0"/>
          </a:p>
          <a:p>
            <a:pPr lvl="1" algn="just">
              <a:lnSpc>
                <a:spcPct val="150000"/>
              </a:lnSpc>
              <a:buFont typeface="Courier New" panose="020B0604020202020204" pitchFamily="34" charset="0"/>
              <a:buChar char="o"/>
            </a:pPr>
            <a:r>
              <a:rPr lang="en-US" sz="1800" dirty="0">
                <a:ea typeface="+mn-lt"/>
                <a:cs typeface="+mn-lt"/>
              </a:rPr>
              <a:t>Difficulty capturing long-range dependencies: As sequences grow, it becomes harder for RNNs to relate distant words.</a:t>
            </a:r>
          </a:p>
          <a:p>
            <a:pPr algn="just">
              <a:lnSpc>
                <a:spcPct val="150000"/>
              </a:lnSpc>
            </a:pPr>
            <a:endParaRPr lang="en-US" sz="1800" dirty="0">
              <a:ea typeface="+mn-lt"/>
              <a:cs typeface="+mn-lt"/>
            </a:endParaRPr>
          </a:p>
          <a:p>
            <a:pPr algn="just">
              <a:lnSpc>
                <a:spcPct val="150000"/>
              </a:lnSpc>
            </a:pPr>
            <a:endParaRPr lang="en-US" sz="1900">
              <a:ea typeface="+mn-lt"/>
              <a:cs typeface="+mn-lt"/>
            </a:endParaRPr>
          </a:p>
        </p:txBody>
      </p:sp>
      <p:sp>
        <p:nvSpPr>
          <p:cNvPr id="4" name="Slide Number Placeholder 3">
            <a:extLst>
              <a:ext uri="{FF2B5EF4-FFF2-40B4-BE49-F238E27FC236}">
                <a16:creationId xmlns:a16="http://schemas.microsoft.com/office/drawing/2014/main" id="{6E6855ED-7649-C113-11D9-CA9228BD4992}"/>
              </a:ext>
            </a:extLst>
          </p:cNvPr>
          <p:cNvSpPr>
            <a:spLocks noGrp="1"/>
          </p:cNvSpPr>
          <p:nvPr>
            <p:ph type="sldNum" sz="quarter" idx="15"/>
          </p:nvPr>
        </p:nvSpPr>
        <p:spPr/>
        <p:txBody>
          <a:bodyPr/>
          <a:lstStyle/>
          <a:p>
            <a:fld id="{18D65601-5AE2-46FC-B138-694DDD2B510D}" type="slidenum">
              <a:rPr lang="en-US" smtClean="0"/>
              <a:pPr/>
              <a:t>11</a:t>
            </a:fld>
            <a:endParaRPr lang="en-US"/>
          </a:p>
        </p:txBody>
      </p:sp>
    </p:spTree>
    <p:extLst>
      <p:ext uri="{BB962C8B-B14F-4D97-AF65-F5344CB8AC3E}">
        <p14:creationId xmlns:p14="http://schemas.microsoft.com/office/powerpoint/2010/main" val="2833025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555B5-3947-BDB0-2443-847F1E5DB7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3C7D98-1C06-C005-FEFE-637198245BD0}"/>
              </a:ext>
            </a:extLst>
          </p:cNvPr>
          <p:cNvSpPr>
            <a:spLocks noGrp="1"/>
          </p:cNvSpPr>
          <p:nvPr>
            <p:ph type="title"/>
          </p:nvPr>
        </p:nvSpPr>
        <p:spPr>
          <a:xfrm>
            <a:off x="1468815" y="503852"/>
            <a:ext cx="9150675" cy="1427585"/>
          </a:xfrm>
        </p:spPr>
        <p:txBody>
          <a:bodyPr/>
          <a:lstStyle/>
          <a:p>
            <a:r>
              <a:rPr lang="en-US" dirty="0">
                <a:ea typeface="+mj-lt"/>
                <a:cs typeface="+mj-lt"/>
              </a:rPr>
              <a:t>What Problem Does the Paper Solve?</a:t>
            </a:r>
            <a:endParaRPr lang="en-US" dirty="0"/>
          </a:p>
        </p:txBody>
      </p:sp>
      <p:sp>
        <p:nvSpPr>
          <p:cNvPr id="3" name="Content Placeholder 2">
            <a:extLst>
              <a:ext uri="{FF2B5EF4-FFF2-40B4-BE49-F238E27FC236}">
                <a16:creationId xmlns:a16="http://schemas.microsoft.com/office/drawing/2014/main" id="{3A3BACB1-F00E-4BD3-B0DE-305DAAC1871F}"/>
              </a:ext>
            </a:extLst>
          </p:cNvPr>
          <p:cNvSpPr>
            <a:spLocks noGrp="1"/>
          </p:cNvSpPr>
          <p:nvPr>
            <p:ph sz="quarter" idx="12"/>
          </p:nvPr>
        </p:nvSpPr>
        <p:spPr>
          <a:xfrm>
            <a:off x="1467670" y="2108722"/>
            <a:ext cx="8902609" cy="4154497"/>
          </a:xfrm>
        </p:spPr>
        <p:txBody>
          <a:bodyPr vert="horz" lIns="0" tIns="0" rIns="0" bIns="0" rtlCol="0" anchor="t">
            <a:normAutofit/>
          </a:bodyPr>
          <a:lstStyle/>
          <a:p>
            <a:pPr algn="just">
              <a:lnSpc>
                <a:spcPct val="150000"/>
              </a:lnSpc>
            </a:pPr>
            <a:r>
              <a:rPr lang="en-US" sz="1800" dirty="0">
                <a:ea typeface="+mn-lt"/>
                <a:cs typeface="+mn-lt"/>
              </a:rPr>
              <a:t>The authors of “Attention Is All You Need” proposed the Transformer, a model that relies entirely on the mechanism of attention without using any recurrence or convolution. </a:t>
            </a:r>
            <a:endParaRPr lang="en-US"/>
          </a:p>
          <a:p>
            <a:pPr algn="just">
              <a:lnSpc>
                <a:spcPct val="150000"/>
              </a:lnSpc>
            </a:pPr>
            <a:r>
              <a:rPr lang="en-US" sz="1800" dirty="0">
                <a:ea typeface="+mn-lt"/>
                <a:cs typeface="+mn-lt"/>
              </a:rPr>
              <a:t>This model efficiently handles long-range dependencies, can be trained faster, and processes input in parallel, making it groundbreaking for modern AI.</a:t>
            </a:r>
            <a:endParaRPr lang="en-US" dirty="0"/>
          </a:p>
          <a:p>
            <a:pPr algn="just">
              <a:lnSpc>
                <a:spcPct val="150000"/>
              </a:lnSpc>
            </a:pPr>
            <a:endParaRPr lang="en-US" sz="1800" dirty="0">
              <a:ea typeface="+mn-lt"/>
              <a:cs typeface="+mn-lt"/>
            </a:endParaRPr>
          </a:p>
          <a:p>
            <a:pPr algn="just">
              <a:lnSpc>
                <a:spcPct val="150000"/>
              </a:lnSpc>
            </a:pPr>
            <a:endParaRPr lang="en-US" sz="1800" dirty="0">
              <a:ea typeface="+mn-lt"/>
              <a:cs typeface="+mn-lt"/>
            </a:endParaRPr>
          </a:p>
          <a:p>
            <a:pPr algn="just">
              <a:lnSpc>
                <a:spcPct val="150000"/>
              </a:lnSpc>
            </a:pPr>
            <a:endParaRPr lang="en-US" sz="1800" dirty="0">
              <a:ea typeface="+mn-lt"/>
              <a:cs typeface="+mn-lt"/>
            </a:endParaRPr>
          </a:p>
          <a:p>
            <a:pPr algn="just">
              <a:lnSpc>
                <a:spcPct val="150000"/>
              </a:lnSpc>
            </a:pPr>
            <a:endParaRPr lang="en-US" sz="1900">
              <a:ea typeface="+mn-lt"/>
              <a:cs typeface="+mn-lt"/>
            </a:endParaRPr>
          </a:p>
        </p:txBody>
      </p:sp>
      <p:sp>
        <p:nvSpPr>
          <p:cNvPr id="4" name="Slide Number Placeholder 3">
            <a:extLst>
              <a:ext uri="{FF2B5EF4-FFF2-40B4-BE49-F238E27FC236}">
                <a16:creationId xmlns:a16="http://schemas.microsoft.com/office/drawing/2014/main" id="{6AAB6904-AA76-E064-5664-4FE2916FE5BA}"/>
              </a:ext>
            </a:extLst>
          </p:cNvPr>
          <p:cNvSpPr>
            <a:spLocks noGrp="1"/>
          </p:cNvSpPr>
          <p:nvPr>
            <p:ph type="sldNum" sz="quarter" idx="15"/>
          </p:nvPr>
        </p:nvSpPr>
        <p:spPr/>
        <p:txBody>
          <a:bodyPr/>
          <a:lstStyle/>
          <a:p>
            <a:fld id="{18D65601-5AE2-46FC-B138-694DDD2B510D}" type="slidenum">
              <a:rPr lang="en-US" smtClean="0"/>
              <a:pPr/>
              <a:t>12</a:t>
            </a:fld>
            <a:endParaRPr lang="en-US"/>
          </a:p>
        </p:txBody>
      </p:sp>
    </p:spTree>
    <p:extLst>
      <p:ext uri="{BB962C8B-B14F-4D97-AF65-F5344CB8AC3E}">
        <p14:creationId xmlns:p14="http://schemas.microsoft.com/office/powerpoint/2010/main" val="17747995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61384-8C2A-AC46-D296-2DF95CBF10BB}"/>
              </a:ext>
            </a:extLst>
          </p:cNvPr>
          <p:cNvSpPr>
            <a:spLocks noGrp="1"/>
          </p:cNvSpPr>
          <p:nvPr>
            <p:ph type="title"/>
          </p:nvPr>
        </p:nvSpPr>
        <p:spPr>
          <a:xfrm>
            <a:off x="1038031" y="1068169"/>
            <a:ext cx="10115939" cy="2681549"/>
          </a:xfrm>
        </p:spPr>
        <p:txBody>
          <a:bodyPr/>
          <a:lstStyle/>
          <a:p>
            <a:r>
              <a:rPr lang="en-US" dirty="0"/>
              <a:t>The</a:t>
            </a:r>
            <a:r>
              <a:rPr lang="en-US" dirty="0">
                <a:ea typeface="+mj-lt"/>
                <a:cs typeface="+mj-lt"/>
              </a:rPr>
              <a:t> Transformer Architecture</a:t>
            </a:r>
            <a:endParaRPr lang="en-ZA" dirty="0"/>
          </a:p>
        </p:txBody>
      </p:sp>
      <p:sp>
        <p:nvSpPr>
          <p:cNvPr id="3" name="Text Placeholder 2">
            <a:extLst>
              <a:ext uri="{FF2B5EF4-FFF2-40B4-BE49-F238E27FC236}">
                <a16:creationId xmlns:a16="http://schemas.microsoft.com/office/drawing/2014/main" id="{FEF606B8-D15C-3916-2C66-49DEC593A3C2}"/>
              </a:ext>
            </a:extLst>
          </p:cNvPr>
          <p:cNvSpPr>
            <a:spLocks noGrp="1"/>
          </p:cNvSpPr>
          <p:nvPr>
            <p:ph type="body" sz="quarter" idx="12"/>
          </p:nvPr>
        </p:nvSpPr>
        <p:spPr>
          <a:xfrm>
            <a:off x="1038031" y="4027047"/>
            <a:ext cx="10115939" cy="1762783"/>
          </a:xfrm>
        </p:spPr>
        <p:txBody>
          <a:bodyPr/>
          <a:lstStyle/>
          <a:p>
            <a:r>
              <a:rPr lang="en-US" dirty="0"/>
              <a:t>What</a:t>
            </a:r>
            <a:r>
              <a:rPr lang="en-US" dirty="0">
                <a:ea typeface="+mn-lt"/>
                <a:cs typeface="+mn-lt"/>
              </a:rPr>
              <a:t> Makes It Different?</a:t>
            </a:r>
            <a:endParaRPr lang="en-US" dirty="0"/>
          </a:p>
        </p:txBody>
      </p:sp>
    </p:spTree>
    <p:extLst>
      <p:ext uri="{BB962C8B-B14F-4D97-AF65-F5344CB8AC3E}">
        <p14:creationId xmlns:p14="http://schemas.microsoft.com/office/powerpoint/2010/main" val="40113340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D94129-1999-7159-E6E3-7D6C478655BD}"/>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14</a:t>
            </a:fld>
            <a:endParaRPr lang="en-US"/>
          </a:p>
        </p:txBody>
      </p:sp>
      <p:sp>
        <p:nvSpPr>
          <p:cNvPr id="3" name="Content Placeholder 2">
            <a:extLst>
              <a:ext uri="{FF2B5EF4-FFF2-40B4-BE49-F238E27FC236}">
                <a16:creationId xmlns:a16="http://schemas.microsoft.com/office/drawing/2014/main" id="{43B3004F-891E-E0B4-FC2D-A5949EC33A3D}"/>
              </a:ext>
            </a:extLst>
          </p:cNvPr>
          <p:cNvSpPr>
            <a:spLocks noGrp="1"/>
          </p:cNvSpPr>
          <p:nvPr>
            <p:ph sz="quarter" idx="11"/>
          </p:nvPr>
        </p:nvSpPr>
        <p:spPr>
          <a:xfrm>
            <a:off x="6740226" y="1703040"/>
            <a:ext cx="5017133" cy="4994910"/>
          </a:xfrm>
        </p:spPr>
        <p:txBody>
          <a:bodyPr vert="horz" lIns="0" tIns="45720" rIns="91440" bIns="45720" rtlCol="0" anchor="t">
            <a:noAutofit/>
          </a:bodyPr>
          <a:lstStyle/>
          <a:p>
            <a:pPr algn="just">
              <a:lnSpc>
                <a:spcPct val="150000"/>
              </a:lnSpc>
            </a:pPr>
            <a:r>
              <a:rPr lang="en-US" sz="1700" dirty="0"/>
              <a:t>The Transformer architecture consists of two main parts:</a:t>
            </a:r>
          </a:p>
          <a:p>
            <a:pPr algn="just">
              <a:lnSpc>
                <a:spcPct val="150000"/>
              </a:lnSpc>
            </a:pPr>
            <a:r>
              <a:rPr lang="en-US" sz="1700" b="1" dirty="0"/>
              <a:t>Encoder</a:t>
            </a:r>
            <a:r>
              <a:rPr lang="en-US" sz="1700" dirty="0"/>
              <a:t>: Processes the input sequence.</a:t>
            </a:r>
          </a:p>
          <a:p>
            <a:pPr algn="just">
              <a:lnSpc>
                <a:spcPct val="150000"/>
              </a:lnSpc>
            </a:pPr>
            <a:r>
              <a:rPr lang="en-US" sz="1700" b="1" dirty="0"/>
              <a:t>Decoder</a:t>
            </a:r>
            <a:r>
              <a:rPr lang="en-US" sz="1700" dirty="0"/>
              <a:t>: Produces the output sequence.</a:t>
            </a:r>
          </a:p>
          <a:p>
            <a:pPr algn="just">
              <a:lnSpc>
                <a:spcPct val="150000"/>
              </a:lnSpc>
            </a:pPr>
            <a:r>
              <a:rPr lang="en-US" sz="1700" dirty="0"/>
              <a:t>Each part contains multiple layers and those layers have sub-layers, and both the encoder and decoder use a mechanism called self-attention to process their respective inputs.</a:t>
            </a:r>
            <a:endParaRPr lang="en-US" sz="1700"/>
          </a:p>
        </p:txBody>
      </p:sp>
      <p:sp>
        <p:nvSpPr>
          <p:cNvPr id="18" name="TextBox 17">
            <a:extLst>
              <a:ext uri="{FF2B5EF4-FFF2-40B4-BE49-F238E27FC236}">
                <a16:creationId xmlns:a16="http://schemas.microsoft.com/office/drawing/2014/main" id="{5DCACD42-ED26-3652-46A2-52D4C9A09C67}"/>
              </a:ext>
            </a:extLst>
          </p:cNvPr>
          <p:cNvSpPr txBox="1"/>
          <p:nvPr/>
        </p:nvSpPr>
        <p:spPr>
          <a:xfrm>
            <a:off x="6739354" y="148988"/>
            <a:ext cx="448114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dirty="0">
                <a:latin typeface="Tisa Offc Serif Pro"/>
              </a:rPr>
              <a:t>Encoder-Decoder</a:t>
            </a:r>
            <a:r>
              <a:rPr lang="en-US" sz="3600" dirty="0">
                <a:latin typeface="Tisa Offc Serif Pro"/>
                <a:ea typeface="+mn-lt"/>
                <a:cs typeface="+mn-lt"/>
              </a:rPr>
              <a:t> Structure</a:t>
            </a:r>
            <a:endParaRPr lang="en-US" sz="3600" dirty="0">
              <a:latin typeface="Tisa Offc Serif Pro"/>
            </a:endParaRPr>
          </a:p>
        </p:txBody>
      </p:sp>
      <p:pic>
        <p:nvPicPr>
          <p:cNvPr id="21" name="Picture Placeholder 20" descr="A diagram of a process&#10;&#10;AI-generated content may be incorrect.">
            <a:extLst>
              <a:ext uri="{FF2B5EF4-FFF2-40B4-BE49-F238E27FC236}">
                <a16:creationId xmlns:a16="http://schemas.microsoft.com/office/drawing/2014/main" id="{375A048F-0670-5235-BA6B-EEC34B1763F5}"/>
              </a:ext>
            </a:extLst>
          </p:cNvPr>
          <p:cNvPicPr>
            <a:picLocks noGrp="1" noChangeAspect="1"/>
          </p:cNvPicPr>
          <p:nvPr>
            <p:ph type="pic" sz="quarter" idx="12"/>
          </p:nvPr>
        </p:nvPicPr>
        <p:blipFill>
          <a:blip r:embed="rId2"/>
          <a:srcRect t="937" b="899"/>
          <a:stretch>
            <a:fillRect/>
          </a:stretch>
        </p:blipFill>
        <p:spPr>
          <a:xfrm>
            <a:off x="1381067" y="0"/>
            <a:ext cx="4592641" cy="6845868"/>
          </a:xfrm>
          <a:prstGeom prst="rect">
            <a:avLst/>
          </a:prstGeom>
        </p:spPr>
      </p:pic>
    </p:spTree>
    <p:extLst>
      <p:ext uri="{BB962C8B-B14F-4D97-AF65-F5344CB8AC3E}">
        <p14:creationId xmlns:p14="http://schemas.microsoft.com/office/powerpoint/2010/main" val="822506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84C7A-F85D-C282-FB68-D5DC2BA2B1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348017-101B-EE71-6450-7391915BBA23}"/>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15</a:t>
            </a:fld>
            <a:endParaRPr lang="en-US"/>
          </a:p>
        </p:txBody>
      </p:sp>
      <p:sp>
        <p:nvSpPr>
          <p:cNvPr id="3" name="Content Placeholder 2">
            <a:extLst>
              <a:ext uri="{FF2B5EF4-FFF2-40B4-BE49-F238E27FC236}">
                <a16:creationId xmlns:a16="http://schemas.microsoft.com/office/drawing/2014/main" id="{875077AA-2304-5786-0D91-9747914A354E}"/>
              </a:ext>
            </a:extLst>
          </p:cNvPr>
          <p:cNvSpPr>
            <a:spLocks noGrp="1"/>
          </p:cNvSpPr>
          <p:nvPr>
            <p:ph sz="quarter" idx="11"/>
          </p:nvPr>
        </p:nvSpPr>
        <p:spPr>
          <a:xfrm>
            <a:off x="6740226" y="1703040"/>
            <a:ext cx="5017133" cy="4994910"/>
          </a:xfrm>
        </p:spPr>
        <p:txBody>
          <a:bodyPr vert="horz" lIns="0" tIns="45720" rIns="91440" bIns="45720" rtlCol="0" anchor="t">
            <a:noAutofit/>
          </a:bodyPr>
          <a:lstStyle/>
          <a:p>
            <a:pPr marL="285750" indent="-285750" algn="just">
              <a:lnSpc>
                <a:spcPct val="150000"/>
              </a:lnSpc>
              <a:buChar char="•"/>
            </a:pPr>
            <a:r>
              <a:rPr lang="en-US" sz="1700" dirty="0"/>
              <a:t>Self-attention</a:t>
            </a:r>
            <a:r>
              <a:rPr lang="en-US" sz="1700" dirty="0">
                <a:ea typeface="+mn-lt"/>
                <a:cs typeface="+mn-lt"/>
              </a:rPr>
              <a:t> is the core idea of this model. Instead of processing data sequentially (like RNNs), the model looks at all the words in a sentence simultaneously. </a:t>
            </a:r>
            <a:endParaRPr lang="en-US" dirty="0">
              <a:ea typeface="+mn-lt"/>
              <a:cs typeface="+mn-lt"/>
            </a:endParaRPr>
          </a:p>
          <a:p>
            <a:pPr marL="285750" indent="-285750" algn="just">
              <a:lnSpc>
                <a:spcPct val="150000"/>
              </a:lnSpc>
              <a:buChar char="•"/>
            </a:pPr>
            <a:r>
              <a:rPr lang="en-US" sz="1700" dirty="0">
                <a:ea typeface="+mn-lt"/>
                <a:cs typeface="+mn-lt"/>
              </a:rPr>
              <a:t>It then determines which words are most relevant to each other at every layer of the network. </a:t>
            </a:r>
            <a:endParaRPr lang="en-US">
              <a:ea typeface="+mn-lt"/>
              <a:cs typeface="+mn-lt"/>
            </a:endParaRPr>
          </a:p>
          <a:p>
            <a:pPr marL="285750" indent="-285750" algn="just">
              <a:lnSpc>
                <a:spcPct val="150000"/>
              </a:lnSpc>
              <a:buChar char="•"/>
            </a:pPr>
            <a:r>
              <a:rPr lang="en-US" sz="1700" dirty="0">
                <a:ea typeface="+mn-lt"/>
                <a:cs typeface="+mn-lt"/>
              </a:rPr>
              <a:t>This allows the model to focus more on important parts of the input and capture relationships between distant words, something RNNs struggled with.</a:t>
            </a:r>
            <a:endParaRPr lang="en-US"/>
          </a:p>
          <a:p>
            <a:pPr algn="just">
              <a:lnSpc>
                <a:spcPct val="150000"/>
              </a:lnSpc>
            </a:pPr>
            <a:endParaRPr lang="en-US" sz="1700" dirty="0"/>
          </a:p>
        </p:txBody>
      </p:sp>
      <p:sp>
        <p:nvSpPr>
          <p:cNvPr id="18" name="TextBox 17">
            <a:extLst>
              <a:ext uri="{FF2B5EF4-FFF2-40B4-BE49-F238E27FC236}">
                <a16:creationId xmlns:a16="http://schemas.microsoft.com/office/drawing/2014/main" id="{4D64B631-D04C-8CC8-EF1A-C8CA8A0B7736}"/>
              </a:ext>
            </a:extLst>
          </p:cNvPr>
          <p:cNvSpPr txBox="1"/>
          <p:nvPr/>
        </p:nvSpPr>
        <p:spPr>
          <a:xfrm>
            <a:off x="6739354" y="148988"/>
            <a:ext cx="448114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dirty="0">
                <a:latin typeface="Tisa Offc Serif Pro"/>
              </a:rPr>
              <a:t>Scaled Dot-Product Attention</a:t>
            </a:r>
          </a:p>
        </p:txBody>
      </p:sp>
      <p:pic>
        <p:nvPicPr>
          <p:cNvPr id="6" name="Picture Placeholder 5" descr="A diagram of a software algorithm&#10;&#10;AI-generated content may be incorrect.">
            <a:extLst>
              <a:ext uri="{FF2B5EF4-FFF2-40B4-BE49-F238E27FC236}">
                <a16:creationId xmlns:a16="http://schemas.microsoft.com/office/drawing/2014/main" id="{145C6DA2-8B85-02D3-E6A7-4297F71D100C}"/>
              </a:ext>
            </a:extLst>
          </p:cNvPr>
          <p:cNvPicPr>
            <a:picLocks noGrp="1" noChangeAspect="1"/>
          </p:cNvPicPr>
          <p:nvPr>
            <p:ph type="pic" sz="quarter" idx="12"/>
          </p:nvPr>
        </p:nvPicPr>
        <p:blipFill>
          <a:blip r:embed="rId2"/>
          <a:srcRect b="-342"/>
          <a:stretch>
            <a:fillRect/>
          </a:stretch>
        </p:blipFill>
        <p:spPr>
          <a:xfrm>
            <a:off x="1381067" y="451690"/>
            <a:ext cx="4592637" cy="5947112"/>
          </a:xfrm>
          <a:prstGeom prst="rect">
            <a:avLst/>
          </a:prstGeom>
        </p:spPr>
      </p:pic>
    </p:spTree>
    <p:extLst>
      <p:ext uri="{BB962C8B-B14F-4D97-AF65-F5344CB8AC3E}">
        <p14:creationId xmlns:p14="http://schemas.microsoft.com/office/powerpoint/2010/main" val="1369640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A06FA-1FF6-EB84-684A-2FEE3EF95576}"/>
              </a:ext>
            </a:extLst>
          </p:cNvPr>
          <p:cNvSpPr>
            <a:spLocks noGrp="1"/>
          </p:cNvSpPr>
          <p:nvPr>
            <p:ph type="title"/>
          </p:nvPr>
        </p:nvSpPr>
        <p:spPr/>
        <p:txBody>
          <a:bodyPr/>
          <a:lstStyle/>
          <a:p>
            <a:r>
              <a:rPr lang="en-US" dirty="0"/>
              <a:t>Scaled Dot-Product Attention</a:t>
            </a:r>
          </a:p>
        </p:txBody>
      </p:sp>
      <p:sp>
        <p:nvSpPr>
          <p:cNvPr id="4" name="Content Placeholder 3">
            <a:extLst>
              <a:ext uri="{FF2B5EF4-FFF2-40B4-BE49-F238E27FC236}">
                <a16:creationId xmlns:a16="http://schemas.microsoft.com/office/drawing/2014/main" id="{4EE70738-C0D9-FAD8-0191-970563DAE85C}"/>
              </a:ext>
            </a:extLst>
          </p:cNvPr>
          <p:cNvSpPr>
            <a:spLocks noGrp="1"/>
          </p:cNvSpPr>
          <p:nvPr>
            <p:ph sz="quarter" idx="11"/>
          </p:nvPr>
        </p:nvSpPr>
        <p:spPr>
          <a:xfrm>
            <a:off x="1469314" y="2057401"/>
            <a:ext cx="9808270" cy="4119463"/>
          </a:xfrm>
        </p:spPr>
        <p:txBody>
          <a:bodyPr vert="horz" lIns="0" tIns="45720" rIns="91440" bIns="45720" rtlCol="0" anchor="t">
            <a:normAutofit/>
          </a:bodyPr>
          <a:lstStyle/>
          <a:p>
            <a:pPr algn="just">
              <a:lnSpc>
                <a:spcPct val="150000"/>
              </a:lnSpc>
            </a:pPr>
            <a:r>
              <a:rPr lang="en-US" sz="1800" dirty="0">
                <a:ea typeface="+mn-lt"/>
                <a:cs typeface="+mn-lt"/>
              </a:rPr>
              <a:t>To break it down:</a:t>
            </a:r>
            <a:endParaRPr lang="en-US"/>
          </a:p>
          <a:p>
            <a:pPr algn="just">
              <a:lnSpc>
                <a:spcPct val="150000"/>
              </a:lnSpc>
            </a:pPr>
            <a:r>
              <a:rPr lang="en-US" sz="1800" b="1" dirty="0">
                <a:ea typeface="+mn-lt"/>
                <a:cs typeface="+mn-lt"/>
              </a:rPr>
              <a:t>Query</a:t>
            </a:r>
            <a:r>
              <a:rPr lang="en-US" sz="1800" dirty="0">
                <a:ea typeface="+mn-lt"/>
                <a:cs typeface="+mn-lt"/>
              </a:rPr>
              <a:t>, </a:t>
            </a:r>
            <a:r>
              <a:rPr lang="en-US" sz="1800" b="1" dirty="0">
                <a:ea typeface="+mn-lt"/>
                <a:cs typeface="+mn-lt"/>
              </a:rPr>
              <a:t>Key</a:t>
            </a:r>
            <a:r>
              <a:rPr lang="en-US" sz="1800" dirty="0">
                <a:ea typeface="+mn-lt"/>
                <a:cs typeface="+mn-lt"/>
              </a:rPr>
              <a:t>, </a:t>
            </a:r>
            <a:r>
              <a:rPr lang="en-US" sz="1800" b="1" dirty="0">
                <a:ea typeface="+mn-lt"/>
                <a:cs typeface="+mn-lt"/>
              </a:rPr>
              <a:t>Value</a:t>
            </a:r>
            <a:r>
              <a:rPr lang="en-US" sz="1800" dirty="0">
                <a:ea typeface="+mn-lt"/>
                <a:cs typeface="+mn-lt"/>
              </a:rPr>
              <a:t>: Every word in the input is represented as a query, key, and value. The self-attention mechanism computes a weighted sum of values based on the similarity of queries and keys, determining how much focus (attention) each word should receive from other words.</a:t>
            </a:r>
          </a:p>
          <a:p>
            <a:pPr algn="just">
              <a:lnSpc>
                <a:spcPct val="150000"/>
              </a:lnSpc>
            </a:pPr>
            <a:endParaRPr lang="en-US" sz="1800" dirty="0"/>
          </a:p>
          <a:p>
            <a:pPr algn="just">
              <a:lnSpc>
                <a:spcPct val="150000"/>
              </a:lnSpc>
            </a:pPr>
            <a:endParaRPr lang="en-US" sz="1800" dirty="0"/>
          </a:p>
        </p:txBody>
      </p:sp>
      <p:sp>
        <p:nvSpPr>
          <p:cNvPr id="5" name="Slide Number Placeholder 4">
            <a:extLst>
              <a:ext uri="{FF2B5EF4-FFF2-40B4-BE49-F238E27FC236}">
                <a16:creationId xmlns:a16="http://schemas.microsoft.com/office/drawing/2014/main" id="{305C1AAD-121E-04B2-4CCD-3BA0E2AF51D4}"/>
              </a:ext>
            </a:extLst>
          </p:cNvPr>
          <p:cNvSpPr>
            <a:spLocks noGrp="1"/>
          </p:cNvSpPr>
          <p:nvPr>
            <p:ph type="sldNum" sz="quarter" idx="15"/>
          </p:nvPr>
        </p:nvSpPr>
        <p:spPr/>
        <p:txBody>
          <a:bodyPr/>
          <a:lstStyle/>
          <a:p>
            <a:fld id="{18D65601-5AE2-46FC-B138-694DDD2B510D}" type="slidenum">
              <a:rPr lang="en-US" smtClean="0"/>
              <a:pPr/>
              <a:t>16</a:t>
            </a:fld>
            <a:endParaRPr lang="en-US"/>
          </a:p>
        </p:txBody>
      </p:sp>
    </p:spTree>
    <p:extLst>
      <p:ext uri="{BB962C8B-B14F-4D97-AF65-F5344CB8AC3E}">
        <p14:creationId xmlns:p14="http://schemas.microsoft.com/office/powerpoint/2010/main" val="23397032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CEB75-BCD2-F0E8-CB75-9FE1E27A84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E448F1-73B6-B7DE-F423-AFB573B9CD44}"/>
              </a:ext>
            </a:extLst>
          </p:cNvPr>
          <p:cNvSpPr>
            <a:spLocks noGrp="1"/>
          </p:cNvSpPr>
          <p:nvPr>
            <p:ph type="title"/>
          </p:nvPr>
        </p:nvSpPr>
        <p:spPr/>
        <p:txBody>
          <a:bodyPr/>
          <a:lstStyle/>
          <a:p>
            <a:r>
              <a:rPr lang="en-US" dirty="0"/>
              <a:t>Scaled Dot-Product Attention</a:t>
            </a:r>
          </a:p>
        </p:txBody>
      </p:sp>
      <p:sp>
        <p:nvSpPr>
          <p:cNvPr id="5" name="Slide Number Placeholder 4">
            <a:extLst>
              <a:ext uri="{FF2B5EF4-FFF2-40B4-BE49-F238E27FC236}">
                <a16:creationId xmlns:a16="http://schemas.microsoft.com/office/drawing/2014/main" id="{7E5145D1-5F69-419F-3D6D-1FE065BA6251}"/>
              </a:ext>
            </a:extLst>
          </p:cNvPr>
          <p:cNvSpPr>
            <a:spLocks noGrp="1"/>
          </p:cNvSpPr>
          <p:nvPr>
            <p:ph type="sldNum" sz="quarter" idx="15"/>
          </p:nvPr>
        </p:nvSpPr>
        <p:spPr/>
        <p:txBody>
          <a:bodyPr/>
          <a:lstStyle/>
          <a:p>
            <a:fld id="{18D65601-5AE2-46FC-B138-694DDD2B510D}" type="slidenum">
              <a:rPr lang="en-US" smtClean="0"/>
              <a:pPr/>
              <a:t>17</a:t>
            </a:fld>
            <a:endParaRPr lang="en-US"/>
          </a:p>
        </p:txBody>
      </p:sp>
      <p:pic>
        <p:nvPicPr>
          <p:cNvPr id="7" name="Content Placeholder 6">
            <a:extLst>
              <a:ext uri="{FF2B5EF4-FFF2-40B4-BE49-F238E27FC236}">
                <a16:creationId xmlns:a16="http://schemas.microsoft.com/office/drawing/2014/main" id="{1D8B9356-0AC9-47A0-F6EC-9CFB32DFB5DC}"/>
              </a:ext>
            </a:extLst>
          </p:cNvPr>
          <p:cNvPicPr>
            <a:picLocks noGrp="1" noChangeAspect="1"/>
          </p:cNvPicPr>
          <p:nvPr>
            <p:ph sz="quarter" idx="11"/>
          </p:nvPr>
        </p:nvPicPr>
        <p:blipFill>
          <a:blip r:embed="rId2"/>
          <a:stretch>
            <a:fillRect/>
          </a:stretch>
        </p:blipFill>
        <p:spPr>
          <a:xfrm>
            <a:off x="1372968" y="2689609"/>
            <a:ext cx="6085857" cy="840565"/>
          </a:xfrm>
          <a:prstGeom prst="rect">
            <a:avLst/>
          </a:prstGeom>
        </p:spPr>
      </p:pic>
      <p:sp>
        <p:nvSpPr>
          <p:cNvPr id="8" name="TextBox 7">
            <a:extLst>
              <a:ext uri="{FF2B5EF4-FFF2-40B4-BE49-F238E27FC236}">
                <a16:creationId xmlns:a16="http://schemas.microsoft.com/office/drawing/2014/main" id="{035FAA4B-4EDD-2B12-1C93-6D1625290951}"/>
              </a:ext>
            </a:extLst>
          </p:cNvPr>
          <p:cNvSpPr txBox="1"/>
          <p:nvPr/>
        </p:nvSpPr>
        <p:spPr>
          <a:xfrm>
            <a:off x="1376098" y="1893606"/>
            <a:ext cx="8327161" cy="4598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pPr>
            <a:r>
              <a:rPr lang="en-US" dirty="0"/>
              <a:t>The</a:t>
            </a:r>
            <a:r>
              <a:rPr lang="en-US" dirty="0">
                <a:ea typeface="+mn-lt"/>
                <a:cs typeface="+mn-lt"/>
              </a:rPr>
              <a:t> formula for attention is:</a:t>
            </a:r>
            <a:endParaRPr lang="en-US" dirty="0"/>
          </a:p>
        </p:txBody>
      </p:sp>
      <p:sp>
        <p:nvSpPr>
          <p:cNvPr id="9" name="TextBox 8">
            <a:extLst>
              <a:ext uri="{FF2B5EF4-FFF2-40B4-BE49-F238E27FC236}">
                <a16:creationId xmlns:a16="http://schemas.microsoft.com/office/drawing/2014/main" id="{ECA2F979-2E32-DCAB-45C0-13EA256D0E2E}"/>
              </a:ext>
            </a:extLst>
          </p:cNvPr>
          <p:cNvSpPr txBox="1"/>
          <p:nvPr/>
        </p:nvSpPr>
        <p:spPr>
          <a:xfrm>
            <a:off x="1258483" y="3928349"/>
            <a:ext cx="9315129" cy="21218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pPr>
            <a:r>
              <a:rPr lang="en-US" dirty="0"/>
              <a:t>Where:</a:t>
            </a:r>
          </a:p>
          <a:p>
            <a:pPr marL="285750" indent="-285750" algn="just">
              <a:lnSpc>
                <a:spcPct val="150000"/>
              </a:lnSpc>
              <a:buFont typeface="Arial"/>
              <a:buChar char="•"/>
            </a:pPr>
            <a:r>
              <a:rPr lang="en-US" b="1" dirty="0"/>
              <a:t>Q </a:t>
            </a:r>
            <a:r>
              <a:rPr lang="en-US" dirty="0"/>
              <a:t>is the query matrix</a:t>
            </a:r>
          </a:p>
          <a:p>
            <a:pPr marL="285750" indent="-285750" algn="just">
              <a:lnSpc>
                <a:spcPct val="150000"/>
              </a:lnSpc>
              <a:buFont typeface="Arial"/>
              <a:buChar char="•"/>
            </a:pPr>
            <a:r>
              <a:rPr lang="en-US" b="1" dirty="0"/>
              <a:t>K </a:t>
            </a:r>
            <a:r>
              <a:rPr lang="en-US" dirty="0"/>
              <a:t>is the key matrix</a:t>
            </a:r>
          </a:p>
          <a:p>
            <a:pPr marL="285750" indent="-285750" algn="just">
              <a:lnSpc>
                <a:spcPct val="150000"/>
              </a:lnSpc>
              <a:buFont typeface="Arial"/>
              <a:buChar char="•"/>
            </a:pPr>
            <a:r>
              <a:rPr lang="en-US" b="1" dirty="0"/>
              <a:t>V </a:t>
            </a:r>
            <a:r>
              <a:rPr lang="en-US" dirty="0"/>
              <a:t>is the value matrix</a:t>
            </a:r>
          </a:p>
          <a:p>
            <a:pPr marL="285750" indent="-285750" algn="just">
              <a:lnSpc>
                <a:spcPct val="150000"/>
              </a:lnSpc>
              <a:buFont typeface="Arial"/>
              <a:buChar char="•"/>
            </a:pPr>
            <a:r>
              <a:rPr lang="en-US" b="1" dirty="0">
                <a:ea typeface="+mn-lt"/>
                <a:cs typeface="+mn-lt"/>
              </a:rPr>
              <a:t>𝑑ₖ</a:t>
            </a:r>
            <a:r>
              <a:rPr lang="en-US" dirty="0">
                <a:ea typeface="+mn-lt"/>
                <a:cs typeface="+mn-lt"/>
              </a:rPr>
              <a:t> is the scaling factor</a:t>
            </a:r>
          </a:p>
        </p:txBody>
      </p:sp>
    </p:spTree>
    <p:extLst>
      <p:ext uri="{BB962C8B-B14F-4D97-AF65-F5344CB8AC3E}">
        <p14:creationId xmlns:p14="http://schemas.microsoft.com/office/powerpoint/2010/main" val="30412916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8E122-BF6B-F588-175A-963F29128A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3B66B5-2DF3-97A4-DCD9-133063C197CC}"/>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18</a:t>
            </a:fld>
            <a:endParaRPr lang="en-US"/>
          </a:p>
        </p:txBody>
      </p:sp>
      <p:sp>
        <p:nvSpPr>
          <p:cNvPr id="3" name="Content Placeholder 2">
            <a:extLst>
              <a:ext uri="{FF2B5EF4-FFF2-40B4-BE49-F238E27FC236}">
                <a16:creationId xmlns:a16="http://schemas.microsoft.com/office/drawing/2014/main" id="{8B358081-9FDF-0CAC-5865-8184151A9C60}"/>
              </a:ext>
            </a:extLst>
          </p:cNvPr>
          <p:cNvSpPr>
            <a:spLocks noGrp="1"/>
          </p:cNvSpPr>
          <p:nvPr>
            <p:ph sz="quarter" idx="11"/>
          </p:nvPr>
        </p:nvSpPr>
        <p:spPr>
          <a:xfrm>
            <a:off x="6740226" y="1627782"/>
            <a:ext cx="5017133" cy="5230095"/>
          </a:xfrm>
        </p:spPr>
        <p:txBody>
          <a:bodyPr vert="horz" lIns="0" tIns="45720" rIns="91440" bIns="45720" rtlCol="0" anchor="t">
            <a:noAutofit/>
          </a:bodyPr>
          <a:lstStyle/>
          <a:p>
            <a:pPr marL="285750" indent="-285750" algn="just">
              <a:lnSpc>
                <a:spcPct val="150000"/>
              </a:lnSpc>
              <a:buChar char="•"/>
            </a:pPr>
            <a:r>
              <a:rPr lang="en-US" sz="1700" dirty="0"/>
              <a:t>Instead</a:t>
            </a:r>
            <a:r>
              <a:rPr lang="en-US" sz="1700" dirty="0">
                <a:ea typeface="+mn-lt"/>
                <a:cs typeface="+mn-lt"/>
              </a:rPr>
              <a:t> of just one attention calculation, it runs multiple scaled dot-product attentions in parallel, called heads. It doesn’t just split the input; it creates different learned projections (like different “views” or “perspectives”) of </a:t>
            </a:r>
            <a:r>
              <a:rPr lang="en-US" sz="1700" b="1" dirty="0">
                <a:ea typeface="+mn-lt"/>
                <a:cs typeface="+mn-lt"/>
              </a:rPr>
              <a:t>Q</a:t>
            </a:r>
            <a:r>
              <a:rPr lang="en-US" sz="1700" dirty="0">
                <a:ea typeface="+mn-lt"/>
                <a:cs typeface="+mn-lt"/>
              </a:rPr>
              <a:t>, </a:t>
            </a:r>
            <a:r>
              <a:rPr lang="en-US" sz="1700" b="1" dirty="0">
                <a:ea typeface="+mn-lt"/>
                <a:cs typeface="+mn-lt"/>
              </a:rPr>
              <a:t>K</a:t>
            </a:r>
            <a:r>
              <a:rPr lang="en-US" sz="1700" dirty="0">
                <a:ea typeface="+mn-lt"/>
                <a:cs typeface="+mn-lt"/>
              </a:rPr>
              <a:t>, and </a:t>
            </a:r>
            <a:r>
              <a:rPr lang="en-US" sz="1700" b="1" dirty="0">
                <a:ea typeface="+mn-lt"/>
                <a:cs typeface="+mn-lt"/>
              </a:rPr>
              <a:t>V</a:t>
            </a:r>
            <a:r>
              <a:rPr lang="en-US" sz="1700" dirty="0">
                <a:ea typeface="+mn-lt"/>
                <a:cs typeface="+mn-lt"/>
              </a:rPr>
              <a:t> for each “head.”</a:t>
            </a:r>
            <a:endParaRPr lang="en-US" sz="1700" dirty="0"/>
          </a:p>
          <a:p>
            <a:pPr marL="285750" indent="-285750" algn="just">
              <a:lnSpc>
                <a:spcPct val="150000"/>
              </a:lnSpc>
              <a:buChar char="•"/>
            </a:pPr>
            <a:r>
              <a:rPr lang="en-US" sz="1700" dirty="0">
                <a:ea typeface="+mn-lt"/>
                <a:cs typeface="+mn-lt"/>
              </a:rPr>
              <a:t>Each head focuses on different patterns in the input. Finally, the results from all these parallel heads are combined. This gives the model a much richer understanding of the relationships within the data.</a:t>
            </a:r>
            <a:endParaRPr lang="en-US" sz="1700" dirty="0"/>
          </a:p>
          <a:p>
            <a:pPr algn="just">
              <a:lnSpc>
                <a:spcPct val="150000"/>
              </a:lnSpc>
            </a:pPr>
            <a:endParaRPr lang="en-US" sz="1700" dirty="0"/>
          </a:p>
        </p:txBody>
      </p:sp>
      <p:sp>
        <p:nvSpPr>
          <p:cNvPr id="18" name="TextBox 17">
            <a:extLst>
              <a:ext uri="{FF2B5EF4-FFF2-40B4-BE49-F238E27FC236}">
                <a16:creationId xmlns:a16="http://schemas.microsoft.com/office/drawing/2014/main" id="{147A2210-9E60-B640-8C79-A673C3810952}"/>
              </a:ext>
            </a:extLst>
          </p:cNvPr>
          <p:cNvSpPr txBox="1"/>
          <p:nvPr/>
        </p:nvSpPr>
        <p:spPr>
          <a:xfrm>
            <a:off x="6739354" y="196025"/>
            <a:ext cx="441528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dirty="0">
                <a:latin typeface="Tisa Offc Serif Pro"/>
              </a:rPr>
              <a:t>Multi-Head </a:t>
            </a:r>
            <a:r>
              <a:rPr lang="en-US" sz="3600" dirty="0">
                <a:latin typeface="Tisa Offc Serif Pro"/>
                <a:ea typeface="+mn-lt"/>
                <a:cs typeface="+mn-lt"/>
              </a:rPr>
              <a:t>Attention</a:t>
            </a:r>
            <a:endParaRPr lang="en-US" sz="3600">
              <a:latin typeface="Tisa Offc Serif Pro"/>
            </a:endParaRPr>
          </a:p>
        </p:txBody>
      </p:sp>
      <p:pic>
        <p:nvPicPr>
          <p:cNvPr id="8" name="Picture Placeholder 7" descr="A diagram of a graph&#10;&#10;AI-generated content may be incorrect.">
            <a:extLst>
              <a:ext uri="{FF2B5EF4-FFF2-40B4-BE49-F238E27FC236}">
                <a16:creationId xmlns:a16="http://schemas.microsoft.com/office/drawing/2014/main" id="{220A6337-4960-6985-3CF7-8A11BF065E34}"/>
              </a:ext>
            </a:extLst>
          </p:cNvPr>
          <p:cNvPicPr>
            <a:picLocks noGrp="1" noChangeAspect="1"/>
          </p:cNvPicPr>
          <p:nvPr>
            <p:ph type="pic" sz="quarter" idx="12"/>
          </p:nvPr>
        </p:nvPicPr>
        <p:blipFill>
          <a:blip r:embed="rId2"/>
          <a:srcRect l="-1434" t="-979" r="1444" b="1323"/>
          <a:stretch>
            <a:fillRect/>
          </a:stretch>
        </p:blipFill>
        <p:spPr>
          <a:xfrm>
            <a:off x="1506166" y="562078"/>
            <a:ext cx="4592200" cy="5742674"/>
          </a:xfrm>
          <a:prstGeom prst="rect">
            <a:avLst/>
          </a:prstGeom>
        </p:spPr>
      </p:pic>
    </p:spTree>
    <p:extLst>
      <p:ext uri="{BB962C8B-B14F-4D97-AF65-F5344CB8AC3E}">
        <p14:creationId xmlns:p14="http://schemas.microsoft.com/office/powerpoint/2010/main" val="13178864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6ECE8-3EDF-1727-691F-11A37EA7A7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454A7C-E955-E5F6-BF79-64E445EE12BA}"/>
              </a:ext>
            </a:extLst>
          </p:cNvPr>
          <p:cNvSpPr>
            <a:spLocks noGrp="1"/>
          </p:cNvSpPr>
          <p:nvPr>
            <p:ph type="title"/>
          </p:nvPr>
        </p:nvSpPr>
        <p:spPr/>
        <p:txBody>
          <a:bodyPr/>
          <a:lstStyle/>
          <a:p>
            <a:r>
              <a:rPr lang="en-US" dirty="0"/>
              <a:t>Feed-Forward</a:t>
            </a:r>
            <a:r>
              <a:rPr lang="en-US" dirty="0">
                <a:ea typeface="+mj-lt"/>
                <a:cs typeface="+mj-lt"/>
              </a:rPr>
              <a:t> Networks</a:t>
            </a:r>
            <a:endParaRPr lang="en-US" dirty="0"/>
          </a:p>
        </p:txBody>
      </p:sp>
      <p:sp>
        <p:nvSpPr>
          <p:cNvPr id="4" name="Content Placeholder 3">
            <a:extLst>
              <a:ext uri="{FF2B5EF4-FFF2-40B4-BE49-F238E27FC236}">
                <a16:creationId xmlns:a16="http://schemas.microsoft.com/office/drawing/2014/main" id="{9D66139A-600C-11D4-9678-93575A344CCB}"/>
              </a:ext>
            </a:extLst>
          </p:cNvPr>
          <p:cNvSpPr>
            <a:spLocks noGrp="1"/>
          </p:cNvSpPr>
          <p:nvPr>
            <p:ph sz="quarter" idx="11"/>
          </p:nvPr>
        </p:nvSpPr>
        <p:spPr>
          <a:xfrm>
            <a:off x="1469314" y="2057401"/>
            <a:ext cx="9808270" cy="4119463"/>
          </a:xfrm>
        </p:spPr>
        <p:txBody>
          <a:bodyPr vert="horz" lIns="0" tIns="45720" rIns="91440" bIns="45720" rtlCol="0" anchor="t">
            <a:normAutofit/>
          </a:bodyPr>
          <a:lstStyle/>
          <a:p>
            <a:pPr algn="just">
              <a:lnSpc>
                <a:spcPct val="150000"/>
              </a:lnSpc>
            </a:pPr>
            <a:r>
              <a:rPr lang="en-US" sz="1800" dirty="0">
                <a:ea typeface="+mn-lt"/>
                <a:cs typeface="+mn-lt"/>
              </a:rPr>
              <a:t>After applying self-attention, the model passes the data through a feed-forward neural network (applied separately to each position). These are fully connected layers that help transform the data before sending it to the next layer.</a:t>
            </a:r>
            <a:endParaRPr lang="en-US" dirty="0">
              <a:ea typeface="+mn-lt"/>
              <a:cs typeface="+mn-lt"/>
            </a:endParaRPr>
          </a:p>
          <a:p>
            <a:pPr algn="just">
              <a:lnSpc>
                <a:spcPct val="150000"/>
              </a:lnSpc>
            </a:pPr>
            <a:endParaRPr lang="en-US" sz="1800" dirty="0"/>
          </a:p>
          <a:p>
            <a:pPr algn="just">
              <a:lnSpc>
                <a:spcPct val="150000"/>
              </a:lnSpc>
            </a:pPr>
            <a:endParaRPr lang="en-US" sz="1800" dirty="0"/>
          </a:p>
        </p:txBody>
      </p:sp>
      <p:sp>
        <p:nvSpPr>
          <p:cNvPr id="5" name="Slide Number Placeholder 4">
            <a:extLst>
              <a:ext uri="{FF2B5EF4-FFF2-40B4-BE49-F238E27FC236}">
                <a16:creationId xmlns:a16="http://schemas.microsoft.com/office/drawing/2014/main" id="{0B83A941-23BE-C60B-B082-279D61FC73DC}"/>
              </a:ext>
            </a:extLst>
          </p:cNvPr>
          <p:cNvSpPr>
            <a:spLocks noGrp="1"/>
          </p:cNvSpPr>
          <p:nvPr>
            <p:ph type="sldNum" sz="quarter" idx="15"/>
          </p:nvPr>
        </p:nvSpPr>
        <p:spPr/>
        <p:txBody>
          <a:bodyPr/>
          <a:lstStyle/>
          <a:p>
            <a:fld id="{18D65601-5AE2-46FC-B138-694DDD2B510D}" type="slidenum">
              <a:rPr lang="en-US" smtClean="0"/>
              <a:pPr/>
              <a:t>19</a:t>
            </a:fld>
            <a:endParaRPr lang="en-US"/>
          </a:p>
        </p:txBody>
      </p:sp>
    </p:spTree>
    <p:extLst>
      <p:ext uri="{BB962C8B-B14F-4D97-AF65-F5344CB8AC3E}">
        <p14:creationId xmlns:p14="http://schemas.microsoft.com/office/powerpoint/2010/main" val="11750024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5546F-0F8F-9881-E3A2-DF892BBFE6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97FC2C-F651-1AEE-407D-A1E9D1BF33A3}"/>
              </a:ext>
            </a:extLst>
          </p:cNvPr>
          <p:cNvSpPr>
            <a:spLocks noGrp="1"/>
          </p:cNvSpPr>
          <p:nvPr>
            <p:ph type="title"/>
          </p:nvPr>
        </p:nvSpPr>
        <p:spPr/>
        <p:txBody>
          <a:bodyPr/>
          <a:lstStyle/>
          <a:p>
            <a:r>
              <a:rPr lang="en-US" dirty="0"/>
              <a:t>Positional</a:t>
            </a:r>
            <a:r>
              <a:rPr lang="en-US" dirty="0">
                <a:ea typeface="+mj-lt"/>
                <a:cs typeface="+mj-lt"/>
              </a:rPr>
              <a:t> Encoding</a:t>
            </a:r>
            <a:endParaRPr lang="en-US" dirty="0"/>
          </a:p>
        </p:txBody>
      </p:sp>
      <p:sp>
        <p:nvSpPr>
          <p:cNvPr id="4" name="Content Placeholder 3">
            <a:extLst>
              <a:ext uri="{FF2B5EF4-FFF2-40B4-BE49-F238E27FC236}">
                <a16:creationId xmlns:a16="http://schemas.microsoft.com/office/drawing/2014/main" id="{60DB869C-F101-4BD4-5A8B-D6D3A01EBF1B}"/>
              </a:ext>
            </a:extLst>
          </p:cNvPr>
          <p:cNvSpPr>
            <a:spLocks noGrp="1"/>
          </p:cNvSpPr>
          <p:nvPr>
            <p:ph sz="quarter" idx="11"/>
          </p:nvPr>
        </p:nvSpPr>
        <p:spPr>
          <a:xfrm>
            <a:off x="1469314" y="2057401"/>
            <a:ext cx="9808270" cy="2529612"/>
          </a:xfrm>
        </p:spPr>
        <p:txBody>
          <a:bodyPr vert="horz" lIns="0" tIns="45720" rIns="91440" bIns="45720" rtlCol="0" anchor="t">
            <a:normAutofit lnSpcReduction="10000"/>
          </a:bodyPr>
          <a:lstStyle/>
          <a:p>
            <a:pPr marL="285750" indent="-285750" algn="just">
              <a:lnSpc>
                <a:spcPct val="150000"/>
              </a:lnSpc>
              <a:buChar char="•"/>
            </a:pPr>
            <a:r>
              <a:rPr lang="en-US" sz="1800" dirty="0">
                <a:ea typeface="+mn-lt"/>
                <a:cs typeface="+mn-lt"/>
              </a:rPr>
              <a:t>Unlike RNNs, which process data sequentially and maintain a sense of order, Transformers process the entire input simultaneously. To give the model some sense of word order in a sequence, the authors introduced positional encoding. These are added to the word embeddings to provide information about the position of each word in the sentence. </a:t>
            </a:r>
            <a:endParaRPr lang="en-US"/>
          </a:p>
          <a:p>
            <a:pPr marL="285750" indent="-285750" algn="just">
              <a:lnSpc>
                <a:spcPct val="150000"/>
              </a:lnSpc>
              <a:buChar char="•"/>
            </a:pPr>
            <a:r>
              <a:rPr lang="en-US" sz="1800" dirty="0"/>
              <a:t>The formula for positional encoding is:</a:t>
            </a:r>
          </a:p>
          <a:p>
            <a:pPr algn="just">
              <a:lnSpc>
                <a:spcPct val="150000"/>
              </a:lnSpc>
            </a:pPr>
            <a:endParaRPr lang="en-US" sz="1800" dirty="0"/>
          </a:p>
          <a:p>
            <a:pPr algn="just">
              <a:lnSpc>
                <a:spcPct val="150000"/>
              </a:lnSpc>
            </a:pPr>
            <a:endParaRPr lang="en-US" sz="1800" dirty="0"/>
          </a:p>
        </p:txBody>
      </p:sp>
      <p:sp>
        <p:nvSpPr>
          <p:cNvPr id="5" name="Slide Number Placeholder 4">
            <a:extLst>
              <a:ext uri="{FF2B5EF4-FFF2-40B4-BE49-F238E27FC236}">
                <a16:creationId xmlns:a16="http://schemas.microsoft.com/office/drawing/2014/main" id="{371166A7-D8D7-2ACA-BF49-81D465502719}"/>
              </a:ext>
            </a:extLst>
          </p:cNvPr>
          <p:cNvSpPr>
            <a:spLocks noGrp="1"/>
          </p:cNvSpPr>
          <p:nvPr>
            <p:ph type="sldNum" sz="quarter" idx="15"/>
          </p:nvPr>
        </p:nvSpPr>
        <p:spPr/>
        <p:txBody>
          <a:bodyPr/>
          <a:lstStyle/>
          <a:p>
            <a:fld id="{18D65601-5AE2-46FC-B138-694DDD2B510D}" type="slidenum">
              <a:rPr lang="en-US" smtClean="0"/>
              <a:pPr/>
              <a:t>20</a:t>
            </a:fld>
            <a:endParaRPr lang="en-US"/>
          </a:p>
        </p:txBody>
      </p:sp>
      <p:pic>
        <p:nvPicPr>
          <p:cNvPr id="3" name="Picture 2" descr="A close-up of a number&#10;&#10;AI-generated content may be incorrect.">
            <a:extLst>
              <a:ext uri="{FF2B5EF4-FFF2-40B4-BE49-F238E27FC236}">
                <a16:creationId xmlns:a16="http://schemas.microsoft.com/office/drawing/2014/main" id="{D54E28AF-E1C9-D383-17A9-82D14B228D3C}"/>
              </a:ext>
            </a:extLst>
          </p:cNvPr>
          <p:cNvPicPr>
            <a:picLocks noChangeAspect="1"/>
          </p:cNvPicPr>
          <p:nvPr/>
        </p:nvPicPr>
        <p:blipFill>
          <a:blip r:embed="rId2"/>
          <a:stretch>
            <a:fillRect/>
          </a:stretch>
        </p:blipFill>
        <p:spPr>
          <a:xfrm>
            <a:off x="1468967" y="4670131"/>
            <a:ext cx="4343400" cy="866775"/>
          </a:xfrm>
          <a:prstGeom prst="rect">
            <a:avLst/>
          </a:prstGeom>
        </p:spPr>
      </p:pic>
    </p:spTree>
    <p:extLst>
      <p:ext uri="{BB962C8B-B14F-4D97-AF65-F5344CB8AC3E}">
        <p14:creationId xmlns:p14="http://schemas.microsoft.com/office/powerpoint/2010/main" val="16890123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9A9E0-B6F4-F9F3-2797-78136CAA8D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582509-5F47-DECE-0C14-79E32ABDE4CF}"/>
              </a:ext>
            </a:extLst>
          </p:cNvPr>
          <p:cNvSpPr>
            <a:spLocks noGrp="1"/>
          </p:cNvSpPr>
          <p:nvPr>
            <p:ph type="title"/>
          </p:nvPr>
        </p:nvSpPr>
        <p:spPr/>
        <p:txBody>
          <a:bodyPr/>
          <a:lstStyle/>
          <a:p>
            <a:r>
              <a:rPr lang="en-US" dirty="0"/>
              <a:t>Encoder-Decoder Sublayer</a:t>
            </a:r>
          </a:p>
        </p:txBody>
      </p:sp>
      <p:sp>
        <p:nvSpPr>
          <p:cNvPr id="4" name="Content Placeholder 3">
            <a:extLst>
              <a:ext uri="{FF2B5EF4-FFF2-40B4-BE49-F238E27FC236}">
                <a16:creationId xmlns:a16="http://schemas.microsoft.com/office/drawing/2014/main" id="{AAFB06EB-92E0-5F1E-4477-A7164B5199E6}"/>
              </a:ext>
            </a:extLst>
          </p:cNvPr>
          <p:cNvSpPr>
            <a:spLocks noGrp="1"/>
          </p:cNvSpPr>
          <p:nvPr>
            <p:ph sz="quarter" idx="11"/>
          </p:nvPr>
        </p:nvSpPr>
        <p:spPr>
          <a:xfrm>
            <a:off x="1469314" y="1715816"/>
            <a:ext cx="9808270" cy="4872703"/>
          </a:xfrm>
        </p:spPr>
        <p:txBody>
          <a:bodyPr vert="horz" lIns="0" tIns="45720" rIns="91440" bIns="45720" rtlCol="0" anchor="t">
            <a:noAutofit/>
          </a:bodyPr>
          <a:lstStyle/>
          <a:p>
            <a:pPr algn="just">
              <a:lnSpc>
                <a:spcPct val="150000"/>
              </a:lnSpc>
            </a:pPr>
            <a:r>
              <a:rPr lang="en-US" sz="1700" dirty="0">
                <a:ea typeface="+mn-lt"/>
                <a:cs typeface="+mn-lt"/>
              </a:rPr>
              <a:t>A formula for calculating the output of a sublayer of either the encoder or decoder is:</a:t>
            </a:r>
          </a:p>
          <a:p>
            <a:pPr algn="just">
              <a:lnSpc>
                <a:spcPct val="150000"/>
              </a:lnSpc>
            </a:pPr>
            <a:r>
              <a:rPr lang="en-US" sz="1700" dirty="0">
                <a:ea typeface="+mn-lt"/>
                <a:cs typeface="+mn-lt"/>
              </a:rPr>
              <a:t> Output = </a:t>
            </a:r>
            <a:r>
              <a:rPr lang="en-US" sz="1700" err="1">
                <a:ea typeface="+mn-lt"/>
                <a:cs typeface="+mn-lt"/>
              </a:rPr>
              <a:t>LayerNorm</a:t>
            </a:r>
            <a:r>
              <a:rPr lang="en-US" sz="1700" dirty="0">
                <a:ea typeface="+mn-lt"/>
                <a:cs typeface="+mn-lt"/>
              </a:rPr>
              <a:t>(x + Sublayer(x))</a:t>
            </a:r>
            <a:endParaRPr lang="en-US" sz="1700" dirty="0"/>
          </a:p>
          <a:p>
            <a:pPr algn="just">
              <a:lnSpc>
                <a:spcPct val="150000"/>
              </a:lnSpc>
            </a:pPr>
            <a:r>
              <a:rPr lang="en-US" sz="1700" dirty="0"/>
              <a:t>Where:</a:t>
            </a:r>
          </a:p>
          <a:p>
            <a:pPr algn="just">
              <a:lnSpc>
                <a:spcPct val="150000"/>
              </a:lnSpc>
            </a:pPr>
            <a:r>
              <a:rPr lang="en-US" sz="1700" dirty="0"/>
              <a:t>x</a:t>
            </a:r>
            <a:r>
              <a:rPr lang="en-US" sz="1700" dirty="0">
                <a:ea typeface="+mn-lt"/>
                <a:cs typeface="+mn-lt"/>
              </a:rPr>
              <a:t> is the input to the sublayer.</a:t>
            </a:r>
            <a:endParaRPr lang="en-US" sz="1700" dirty="0"/>
          </a:p>
          <a:p>
            <a:pPr algn="just">
              <a:lnSpc>
                <a:spcPct val="150000"/>
              </a:lnSpc>
            </a:pPr>
            <a:r>
              <a:rPr lang="en-US" sz="1700" dirty="0"/>
              <a:t>Sublayer</a:t>
            </a:r>
            <a:r>
              <a:rPr lang="en-US" sz="1700" dirty="0">
                <a:ea typeface="+mn-lt"/>
                <a:cs typeface="+mn-lt"/>
              </a:rPr>
              <a:t>(x) is the actual computation (e.g., attention, feed-forward network).</a:t>
            </a:r>
            <a:endParaRPr lang="en-US" sz="1700" dirty="0"/>
          </a:p>
          <a:p>
            <a:pPr algn="just">
              <a:lnSpc>
                <a:spcPct val="150000"/>
              </a:lnSpc>
            </a:pPr>
            <a:r>
              <a:rPr lang="en-US" sz="1700" dirty="0"/>
              <a:t>x</a:t>
            </a:r>
            <a:r>
              <a:rPr lang="en-US" sz="1700" dirty="0">
                <a:ea typeface="+mn-lt"/>
                <a:cs typeface="+mn-lt"/>
              </a:rPr>
              <a:t> + Sublayer(x) is called a residual connection, a fancy term for adding the input back to the output of the sublayer. It's crucial for stable training and </a:t>
            </a:r>
            <a:r>
              <a:rPr lang="en-US" sz="1700" err="1">
                <a:ea typeface="+mn-lt"/>
                <a:cs typeface="+mn-lt"/>
              </a:rPr>
              <a:t>optimisation</a:t>
            </a:r>
            <a:r>
              <a:rPr lang="en-US" sz="1700" dirty="0">
                <a:ea typeface="+mn-lt"/>
                <a:cs typeface="+mn-lt"/>
              </a:rPr>
              <a:t> in deep networks.</a:t>
            </a:r>
          </a:p>
          <a:p>
            <a:pPr algn="just">
              <a:lnSpc>
                <a:spcPct val="150000"/>
              </a:lnSpc>
            </a:pPr>
            <a:r>
              <a:rPr lang="en-US" sz="1700" err="1">
                <a:ea typeface="+mn-lt"/>
                <a:cs typeface="+mn-lt"/>
              </a:rPr>
              <a:t>LayerNorm</a:t>
            </a:r>
            <a:r>
              <a:rPr lang="en-US" sz="1700" dirty="0">
                <a:ea typeface="+mn-lt"/>
                <a:cs typeface="+mn-lt"/>
              </a:rPr>
              <a:t>() is Layer </a:t>
            </a:r>
            <a:r>
              <a:rPr lang="en-US" sz="1700" err="1">
                <a:ea typeface="+mn-lt"/>
                <a:cs typeface="+mn-lt"/>
              </a:rPr>
              <a:t>Normalisation</a:t>
            </a:r>
            <a:r>
              <a:rPr lang="en-US" sz="1700" dirty="0">
                <a:ea typeface="+mn-lt"/>
                <a:cs typeface="+mn-lt"/>
              </a:rPr>
              <a:t>, which is applied for stability after adding the input back.</a:t>
            </a:r>
            <a:endParaRPr lang="en-US" sz="1700" dirty="0"/>
          </a:p>
          <a:p>
            <a:pPr algn="just">
              <a:lnSpc>
                <a:spcPct val="150000"/>
              </a:lnSpc>
            </a:pPr>
            <a:endParaRPr lang="en-US" sz="1800" dirty="0"/>
          </a:p>
          <a:p>
            <a:pPr algn="just">
              <a:lnSpc>
                <a:spcPct val="150000"/>
              </a:lnSpc>
            </a:pPr>
            <a:endParaRPr lang="en-US" sz="1800" dirty="0"/>
          </a:p>
        </p:txBody>
      </p:sp>
      <p:sp>
        <p:nvSpPr>
          <p:cNvPr id="5" name="Slide Number Placeholder 4">
            <a:extLst>
              <a:ext uri="{FF2B5EF4-FFF2-40B4-BE49-F238E27FC236}">
                <a16:creationId xmlns:a16="http://schemas.microsoft.com/office/drawing/2014/main" id="{8358F8B1-FCEA-BB37-DFEB-9B70E72201EC}"/>
              </a:ext>
            </a:extLst>
          </p:cNvPr>
          <p:cNvSpPr>
            <a:spLocks noGrp="1"/>
          </p:cNvSpPr>
          <p:nvPr>
            <p:ph type="sldNum" sz="quarter" idx="15"/>
          </p:nvPr>
        </p:nvSpPr>
        <p:spPr/>
        <p:txBody>
          <a:bodyPr/>
          <a:lstStyle/>
          <a:p>
            <a:fld id="{18D65601-5AE2-46FC-B138-694DDD2B510D}" type="slidenum">
              <a:rPr lang="en-US" smtClean="0"/>
              <a:pPr/>
              <a:t>21</a:t>
            </a:fld>
            <a:endParaRPr lang="en-US"/>
          </a:p>
        </p:txBody>
      </p:sp>
    </p:spTree>
    <p:extLst>
      <p:ext uri="{BB962C8B-B14F-4D97-AF65-F5344CB8AC3E}">
        <p14:creationId xmlns:p14="http://schemas.microsoft.com/office/powerpoint/2010/main" val="2957771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7FD83-F003-F1BD-CDEF-0BA3D7A3D4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C1C30D-ADFE-67E8-5399-00B8ACFD3D68}"/>
              </a:ext>
            </a:extLst>
          </p:cNvPr>
          <p:cNvSpPr>
            <a:spLocks noGrp="1"/>
          </p:cNvSpPr>
          <p:nvPr>
            <p:ph type="title"/>
          </p:nvPr>
        </p:nvSpPr>
        <p:spPr/>
        <p:txBody>
          <a:bodyPr/>
          <a:lstStyle/>
          <a:p>
            <a:r>
              <a:rPr lang="en-US" dirty="0"/>
              <a:t>The Encoder</a:t>
            </a:r>
          </a:p>
        </p:txBody>
      </p:sp>
      <p:sp>
        <p:nvSpPr>
          <p:cNvPr id="4" name="Content Placeholder 3">
            <a:extLst>
              <a:ext uri="{FF2B5EF4-FFF2-40B4-BE49-F238E27FC236}">
                <a16:creationId xmlns:a16="http://schemas.microsoft.com/office/drawing/2014/main" id="{2E09801B-8D53-912C-9578-3B5253CF4C65}"/>
              </a:ext>
            </a:extLst>
          </p:cNvPr>
          <p:cNvSpPr>
            <a:spLocks noGrp="1"/>
          </p:cNvSpPr>
          <p:nvPr>
            <p:ph sz="quarter" idx="11"/>
          </p:nvPr>
        </p:nvSpPr>
        <p:spPr>
          <a:xfrm>
            <a:off x="1469314" y="2057401"/>
            <a:ext cx="9808270" cy="4119463"/>
          </a:xfrm>
        </p:spPr>
        <p:txBody>
          <a:bodyPr vert="horz" lIns="0" tIns="45720" rIns="91440" bIns="45720" rtlCol="0" anchor="t">
            <a:normAutofit/>
          </a:bodyPr>
          <a:lstStyle/>
          <a:p>
            <a:pPr marL="285750" indent="-285750" algn="just">
              <a:lnSpc>
                <a:spcPct val="150000"/>
              </a:lnSpc>
              <a:buChar char="•"/>
            </a:pPr>
            <a:r>
              <a:rPr lang="en-US" sz="1700" dirty="0">
                <a:ea typeface="+mn-lt"/>
                <a:cs typeface="+mn-lt"/>
              </a:rPr>
              <a:t>This has </a:t>
            </a:r>
            <a:r>
              <a:rPr lang="en-US" sz="1700" b="1" dirty="0">
                <a:ea typeface="+mn-lt"/>
                <a:cs typeface="+mn-lt"/>
              </a:rPr>
              <a:t>6 layers</a:t>
            </a:r>
            <a:r>
              <a:rPr lang="en-US" sz="1700" dirty="0">
                <a:ea typeface="+mn-lt"/>
                <a:cs typeface="+mn-lt"/>
              </a:rPr>
              <a:t>, and each layer is made up of </a:t>
            </a:r>
            <a:r>
              <a:rPr lang="en-US" sz="1700" b="1" dirty="0">
                <a:ea typeface="+mn-lt"/>
                <a:cs typeface="+mn-lt"/>
              </a:rPr>
              <a:t>2 sublayers</a:t>
            </a:r>
            <a:r>
              <a:rPr lang="en-US" sz="1700" dirty="0">
                <a:ea typeface="+mn-lt"/>
                <a:cs typeface="+mn-lt"/>
              </a:rPr>
              <a:t>:</a:t>
            </a:r>
            <a:endParaRPr lang="en-US" sz="1700" dirty="0"/>
          </a:p>
          <a:p>
            <a:pPr marL="514350" lvl="1" algn="just">
              <a:lnSpc>
                <a:spcPct val="150000"/>
              </a:lnSpc>
              <a:buFont typeface="Courier New" panose="020B0604020202020204" pitchFamily="34" charset="0"/>
              <a:buChar char="o"/>
            </a:pPr>
            <a:r>
              <a:rPr lang="en-US" sz="1700" b="1" dirty="0">
                <a:ea typeface="+mn-lt"/>
                <a:cs typeface="+mn-lt"/>
              </a:rPr>
              <a:t>Multi-head self-attention</a:t>
            </a:r>
            <a:r>
              <a:rPr lang="en-US" sz="1700" dirty="0">
                <a:ea typeface="+mn-lt"/>
                <a:cs typeface="+mn-lt"/>
              </a:rPr>
              <a:t>: This means each word looks at all the other words in the sentence, including itself, to figure out which ones matter most. This helps the model understand the full context of the input.</a:t>
            </a:r>
          </a:p>
          <a:p>
            <a:pPr marL="514350" lvl="1" algn="just">
              <a:lnSpc>
                <a:spcPct val="150000"/>
              </a:lnSpc>
              <a:buFont typeface="Courier New" panose="020B0604020202020204" pitchFamily="34" charset="0"/>
              <a:buChar char="o"/>
            </a:pPr>
            <a:r>
              <a:rPr lang="en-US" sz="1700" b="1" dirty="0">
                <a:ea typeface="+mn-lt"/>
                <a:cs typeface="+mn-lt"/>
              </a:rPr>
              <a:t>Feed-forward network (FFN)</a:t>
            </a:r>
            <a:r>
              <a:rPr lang="en-US" sz="1700" dirty="0">
                <a:ea typeface="+mn-lt"/>
                <a:cs typeface="+mn-lt"/>
              </a:rPr>
              <a:t>: A mini neural network applied to each word separately.</a:t>
            </a:r>
          </a:p>
          <a:p>
            <a:pPr marL="285750" indent="-285750" algn="just">
              <a:lnSpc>
                <a:spcPct val="150000"/>
              </a:lnSpc>
              <a:buChar char="•"/>
            </a:pPr>
            <a:r>
              <a:rPr lang="en-US" sz="1700" dirty="0">
                <a:ea typeface="+mn-lt"/>
                <a:cs typeface="+mn-lt"/>
              </a:rPr>
              <a:t>The formula Output = </a:t>
            </a:r>
            <a:r>
              <a:rPr lang="en-US" sz="1700" err="1">
                <a:ea typeface="+mn-lt"/>
                <a:cs typeface="+mn-lt"/>
              </a:rPr>
              <a:t>LayerNorm</a:t>
            </a:r>
            <a:r>
              <a:rPr lang="en-US" sz="1700" dirty="0">
                <a:ea typeface="+mn-lt"/>
                <a:cs typeface="+mn-lt"/>
              </a:rPr>
              <a:t>(x + Sublayer(x)) applies to both of these sublayers with the “Sublayer(x)” function either being the </a:t>
            </a:r>
            <a:r>
              <a:rPr lang="en-US" sz="1700" err="1">
                <a:ea typeface="+mn-lt"/>
                <a:cs typeface="+mn-lt"/>
              </a:rPr>
              <a:t>multihead</a:t>
            </a:r>
            <a:r>
              <a:rPr lang="en-US" sz="1700" dirty="0">
                <a:ea typeface="+mn-lt"/>
                <a:cs typeface="+mn-lt"/>
              </a:rPr>
              <a:t> self-attention or the FFN.</a:t>
            </a:r>
            <a:endParaRPr lang="en-US" sz="1700" dirty="0"/>
          </a:p>
          <a:p>
            <a:pPr algn="just">
              <a:lnSpc>
                <a:spcPct val="150000"/>
              </a:lnSpc>
            </a:pPr>
            <a:endParaRPr lang="en-US" sz="1800" dirty="0"/>
          </a:p>
          <a:p>
            <a:pPr algn="just">
              <a:lnSpc>
                <a:spcPct val="150000"/>
              </a:lnSpc>
            </a:pPr>
            <a:endParaRPr lang="en-US" sz="1800" dirty="0"/>
          </a:p>
        </p:txBody>
      </p:sp>
      <p:sp>
        <p:nvSpPr>
          <p:cNvPr id="5" name="Slide Number Placeholder 4">
            <a:extLst>
              <a:ext uri="{FF2B5EF4-FFF2-40B4-BE49-F238E27FC236}">
                <a16:creationId xmlns:a16="http://schemas.microsoft.com/office/drawing/2014/main" id="{57AB0599-06B8-275F-4493-8718AA36B2C0}"/>
              </a:ext>
            </a:extLst>
          </p:cNvPr>
          <p:cNvSpPr>
            <a:spLocks noGrp="1"/>
          </p:cNvSpPr>
          <p:nvPr>
            <p:ph type="sldNum" sz="quarter" idx="15"/>
          </p:nvPr>
        </p:nvSpPr>
        <p:spPr/>
        <p:txBody>
          <a:bodyPr/>
          <a:lstStyle/>
          <a:p>
            <a:fld id="{18D65601-5AE2-46FC-B138-694DDD2B510D}" type="slidenum">
              <a:rPr lang="en-US" smtClean="0"/>
              <a:pPr/>
              <a:t>22</a:t>
            </a:fld>
            <a:endParaRPr lang="en-US"/>
          </a:p>
        </p:txBody>
      </p:sp>
    </p:spTree>
    <p:extLst>
      <p:ext uri="{BB962C8B-B14F-4D97-AF65-F5344CB8AC3E}">
        <p14:creationId xmlns:p14="http://schemas.microsoft.com/office/powerpoint/2010/main" val="8910618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57D44-5EE7-70DB-A9D7-F3E26C2604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BD5588-96A4-0172-666D-57A3785F534C}"/>
              </a:ext>
            </a:extLst>
          </p:cNvPr>
          <p:cNvSpPr>
            <a:spLocks noGrp="1"/>
          </p:cNvSpPr>
          <p:nvPr>
            <p:ph type="title"/>
          </p:nvPr>
        </p:nvSpPr>
        <p:spPr/>
        <p:txBody>
          <a:bodyPr/>
          <a:lstStyle/>
          <a:p>
            <a:r>
              <a:rPr lang="en-US" dirty="0"/>
              <a:t>The Decoder</a:t>
            </a:r>
          </a:p>
        </p:txBody>
      </p:sp>
      <p:sp>
        <p:nvSpPr>
          <p:cNvPr id="4" name="Content Placeholder 3">
            <a:extLst>
              <a:ext uri="{FF2B5EF4-FFF2-40B4-BE49-F238E27FC236}">
                <a16:creationId xmlns:a16="http://schemas.microsoft.com/office/drawing/2014/main" id="{894BC562-5A18-DD4B-71E3-E8147A67082E}"/>
              </a:ext>
            </a:extLst>
          </p:cNvPr>
          <p:cNvSpPr>
            <a:spLocks noGrp="1"/>
          </p:cNvSpPr>
          <p:nvPr>
            <p:ph sz="quarter" idx="11"/>
          </p:nvPr>
        </p:nvSpPr>
        <p:spPr>
          <a:xfrm>
            <a:off x="1469314" y="2057401"/>
            <a:ext cx="9808270" cy="4119463"/>
          </a:xfrm>
        </p:spPr>
        <p:txBody>
          <a:bodyPr vert="horz" lIns="0" tIns="45720" rIns="91440" bIns="45720" rtlCol="0" anchor="t">
            <a:normAutofit fontScale="92500" lnSpcReduction="10000"/>
          </a:bodyPr>
          <a:lstStyle/>
          <a:p>
            <a:pPr marL="285750" indent="-285750" algn="just">
              <a:lnSpc>
                <a:spcPct val="150000"/>
              </a:lnSpc>
              <a:buChar char="•"/>
            </a:pPr>
            <a:r>
              <a:rPr lang="en-US" sz="1800" dirty="0">
                <a:ea typeface="+mn-lt"/>
                <a:cs typeface="+mn-lt"/>
              </a:rPr>
              <a:t>The decoder also has </a:t>
            </a:r>
            <a:r>
              <a:rPr lang="en-US" sz="1800" b="1" dirty="0">
                <a:ea typeface="+mn-lt"/>
                <a:cs typeface="+mn-lt"/>
              </a:rPr>
              <a:t>6 layers</a:t>
            </a:r>
            <a:r>
              <a:rPr lang="en-US" sz="1800" dirty="0">
                <a:ea typeface="+mn-lt"/>
                <a:cs typeface="+mn-lt"/>
              </a:rPr>
              <a:t>, but with </a:t>
            </a:r>
            <a:r>
              <a:rPr lang="en-US" sz="1800" b="1" dirty="0">
                <a:ea typeface="+mn-lt"/>
                <a:cs typeface="+mn-lt"/>
              </a:rPr>
              <a:t>3 sublayers</a:t>
            </a:r>
            <a:r>
              <a:rPr lang="en-US" sz="1800" dirty="0">
                <a:ea typeface="+mn-lt"/>
                <a:cs typeface="+mn-lt"/>
              </a:rPr>
              <a:t> per layer:</a:t>
            </a:r>
            <a:endParaRPr lang="en-US" sz="1800" b="1" dirty="0"/>
          </a:p>
          <a:p>
            <a:pPr marL="514350" lvl="1" algn="just">
              <a:lnSpc>
                <a:spcPct val="150000"/>
              </a:lnSpc>
              <a:buFont typeface="Courier New" panose="020B0604020202020204" pitchFamily="34" charset="0"/>
              <a:buChar char="o"/>
            </a:pPr>
            <a:r>
              <a:rPr lang="en-US" sz="1800" b="1" dirty="0">
                <a:ea typeface="+mn-lt"/>
                <a:cs typeface="+mn-lt"/>
              </a:rPr>
              <a:t>Masked multi-head self-attention</a:t>
            </a:r>
            <a:r>
              <a:rPr lang="en-US" sz="1800" dirty="0">
                <a:ea typeface="+mn-lt"/>
                <a:cs typeface="+mn-lt"/>
              </a:rPr>
              <a:t>: Just like the encoder’s, but with a small twist: masking. Each word can only look at itself and the ones before it, not the ones ahead. This way, the model doesn’t cheat by seeing future words when generating a sentence.</a:t>
            </a:r>
          </a:p>
          <a:p>
            <a:pPr marL="514350" lvl="1" algn="just">
              <a:lnSpc>
                <a:spcPct val="150000"/>
              </a:lnSpc>
              <a:buFont typeface="Courier New" panose="020B0604020202020204" pitchFamily="34" charset="0"/>
              <a:buChar char="o"/>
            </a:pPr>
            <a:r>
              <a:rPr lang="en-US" sz="1800" b="1" dirty="0">
                <a:ea typeface="+mn-lt"/>
                <a:cs typeface="+mn-lt"/>
              </a:rPr>
              <a:t>Cross-attention</a:t>
            </a:r>
            <a:r>
              <a:rPr lang="en-US" sz="1800" dirty="0">
                <a:ea typeface="+mn-lt"/>
                <a:cs typeface="+mn-lt"/>
              </a:rPr>
              <a:t>: This allows the decoder to look at the output of the encoder. This is how the input sequence (e.g., the English sentence) informs the generation of the output sequence (e.g., the German translation).</a:t>
            </a:r>
          </a:p>
          <a:p>
            <a:pPr marL="514350" lvl="1" algn="just">
              <a:lnSpc>
                <a:spcPct val="150000"/>
              </a:lnSpc>
              <a:buFont typeface="Courier New" panose="020B0604020202020204" pitchFamily="34" charset="0"/>
              <a:buChar char="o"/>
            </a:pPr>
            <a:r>
              <a:rPr lang="en-US" sz="1800" b="1" dirty="0">
                <a:ea typeface="+mn-lt"/>
                <a:cs typeface="+mn-lt"/>
              </a:rPr>
              <a:t>Feed-forward network (FFN)</a:t>
            </a:r>
            <a:r>
              <a:rPr lang="en-US" sz="1800" dirty="0">
                <a:ea typeface="+mn-lt"/>
                <a:cs typeface="+mn-lt"/>
              </a:rPr>
              <a:t>: A mini neural network applied to each word separately.</a:t>
            </a:r>
          </a:p>
          <a:p>
            <a:pPr algn="just">
              <a:lnSpc>
                <a:spcPct val="150000"/>
              </a:lnSpc>
            </a:pPr>
            <a:endParaRPr lang="en-US" sz="1800" dirty="0"/>
          </a:p>
          <a:p>
            <a:pPr algn="just">
              <a:lnSpc>
                <a:spcPct val="150000"/>
              </a:lnSpc>
            </a:pPr>
            <a:endParaRPr lang="en-US" sz="1800" dirty="0"/>
          </a:p>
        </p:txBody>
      </p:sp>
      <p:sp>
        <p:nvSpPr>
          <p:cNvPr id="5" name="Slide Number Placeholder 4">
            <a:extLst>
              <a:ext uri="{FF2B5EF4-FFF2-40B4-BE49-F238E27FC236}">
                <a16:creationId xmlns:a16="http://schemas.microsoft.com/office/drawing/2014/main" id="{520B126F-1E05-0F2C-1E0A-C17BE16C7202}"/>
              </a:ext>
            </a:extLst>
          </p:cNvPr>
          <p:cNvSpPr>
            <a:spLocks noGrp="1"/>
          </p:cNvSpPr>
          <p:nvPr>
            <p:ph type="sldNum" sz="quarter" idx="15"/>
          </p:nvPr>
        </p:nvSpPr>
        <p:spPr/>
        <p:txBody>
          <a:bodyPr/>
          <a:lstStyle/>
          <a:p>
            <a:fld id="{18D65601-5AE2-46FC-B138-694DDD2B510D}" type="slidenum">
              <a:rPr lang="en-US" smtClean="0"/>
              <a:pPr/>
              <a:t>23</a:t>
            </a:fld>
            <a:endParaRPr lang="en-US"/>
          </a:p>
        </p:txBody>
      </p:sp>
    </p:spTree>
    <p:extLst>
      <p:ext uri="{BB962C8B-B14F-4D97-AF65-F5344CB8AC3E}">
        <p14:creationId xmlns:p14="http://schemas.microsoft.com/office/powerpoint/2010/main" val="17429134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4B04D-2D2E-4EC7-11D2-7696420070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F38ACA-93BA-E54E-BFD0-F2D60599CDE9}"/>
              </a:ext>
            </a:extLst>
          </p:cNvPr>
          <p:cNvSpPr>
            <a:spLocks noGrp="1"/>
          </p:cNvSpPr>
          <p:nvPr>
            <p:ph type="title"/>
          </p:nvPr>
        </p:nvSpPr>
        <p:spPr/>
        <p:txBody>
          <a:bodyPr/>
          <a:lstStyle/>
          <a:p>
            <a:r>
              <a:rPr lang="en-US" dirty="0"/>
              <a:t>The Decoder</a:t>
            </a:r>
          </a:p>
        </p:txBody>
      </p:sp>
      <p:sp>
        <p:nvSpPr>
          <p:cNvPr id="4" name="Content Placeholder 3">
            <a:extLst>
              <a:ext uri="{FF2B5EF4-FFF2-40B4-BE49-F238E27FC236}">
                <a16:creationId xmlns:a16="http://schemas.microsoft.com/office/drawing/2014/main" id="{F54406B0-095F-B4E0-C2DE-AA3A2C568FDB}"/>
              </a:ext>
            </a:extLst>
          </p:cNvPr>
          <p:cNvSpPr>
            <a:spLocks noGrp="1"/>
          </p:cNvSpPr>
          <p:nvPr>
            <p:ph sz="quarter" idx="11"/>
          </p:nvPr>
        </p:nvSpPr>
        <p:spPr>
          <a:xfrm>
            <a:off x="1469314" y="2057401"/>
            <a:ext cx="9808270" cy="4119463"/>
          </a:xfrm>
        </p:spPr>
        <p:txBody>
          <a:bodyPr vert="horz" lIns="0" tIns="45720" rIns="91440" bIns="45720" rtlCol="0" anchor="t">
            <a:normAutofit/>
          </a:bodyPr>
          <a:lstStyle/>
          <a:p>
            <a:pPr marL="285750" indent="-285750" algn="just">
              <a:lnSpc>
                <a:spcPct val="150000"/>
              </a:lnSpc>
              <a:buChar char="•"/>
            </a:pPr>
            <a:r>
              <a:rPr lang="en-US" sz="1700" dirty="0">
                <a:ea typeface="+mn-lt"/>
                <a:cs typeface="+mn-lt"/>
              </a:rPr>
              <a:t>The mathematical representation for one layer of the decoder would be:</a:t>
            </a:r>
            <a:endParaRPr lang="en-US" sz="1700" b="1">
              <a:ea typeface="+mn-lt"/>
              <a:cs typeface="+mn-lt"/>
            </a:endParaRPr>
          </a:p>
          <a:p>
            <a:pPr marL="514350" lvl="1" algn="just">
              <a:lnSpc>
                <a:spcPct val="150000"/>
              </a:lnSpc>
              <a:buFont typeface="Courier New" panose="020B0604020202020204" pitchFamily="34" charset="0"/>
              <a:buChar char="o"/>
            </a:pPr>
            <a:r>
              <a:rPr lang="en-US" sz="1700" dirty="0">
                <a:ea typeface="+mn-lt"/>
                <a:cs typeface="+mn-lt"/>
              </a:rPr>
              <a:t>z1 = </a:t>
            </a:r>
            <a:r>
              <a:rPr lang="en-US" sz="1700" err="1">
                <a:ea typeface="+mn-lt"/>
                <a:cs typeface="+mn-lt"/>
              </a:rPr>
              <a:t>LayerNorm</a:t>
            </a:r>
            <a:r>
              <a:rPr lang="en-US" sz="1700" dirty="0">
                <a:ea typeface="+mn-lt"/>
                <a:cs typeface="+mn-lt"/>
              </a:rPr>
              <a:t>(x + </a:t>
            </a:r>
            <a:r>
              <a:rPr lang="en-US" sz="1700" err="1">
                <a:ea typeface="+mn-lt"/>
                <a:cs typeface="+mn-lt"/>
              </a:rPr>
              <a:t>MultiHeadMaskedSelfAttention</a:t>
            </a:r>
            <a:r>
              <a:rPr lang="en-US" sz="1700" dirty="0">
                <a:ea typeface="+mn-lt"/>
                <a:cs typeface="+mn-lt"/>
              </a:rPr>
              <a:t>(x))</a:t>
            </a:r>
          </a:p>
          <a:p>
            <a:pPr marL="514350" lvl="1" algn="just">
              <a:lnSpc>
                <a:spcPct val="150000"/>
              </a:lnSpc>
              <a:buFont typeface="Courier New" panose="020B0604020202020204" pitchFamily="34" charset="0"/>
              <a:buChar char="o"/>
            </a:pPr>
            <a:r>
              <a:rPr lang="en-US" sz="1700" dirty="0">
                <a:ea typeface="+mn-lt"/>
                <a:cs typeface="+mn-lt"/>
              </a:rPr>
              <a:t>z2 = </a:t>
            </a:r>
            <a:r>
              <a:rPr lang="en-US" sz="1700" err="1">
                <a:ea typeface="+mn-lt"/>
                <a:cs typeface="+mn-lt"/>
              </a:rPr>
              <a:t>LayerNorm</a:t>
            </a:r>
            <a:r>
              <a:rPr lang="en-US" sz="1700" dirty="0">
                <a:ea typeface="+mn-lt"/>
                <a:cs typeface="+mn-lt"/>
              </a:rPr>
              <a:t>(z1 + </a:t>
            </a:r>
            <a:r>
              <a:rPr lang="en-US" sz="1700" err="1">
                <a:ea typeface="+mn-lt"/>
                <a:cs typeface="+mn-lt"/>
              </a:rPr>
              <a:t>MultiHeadCrossAttention</a:t>
            </a:r>
            <a:r>
              <a:rPr lang="en-US" sz="1700" dirty="0">
                <a:ea typeface="+mn-lt"/>
                <a:cs typeface="+mn-lt"/>
              </a:rPr>
              <a:t>(z1, </a:t>
            </a:r>
            <a:r>
              <a:rPr lang="en-US" sz="1700" err="1">
                <a:ea typeface="+mn-lt"/>
                <a:cs typeface="+mn-lt"/>
              </a:rPr>
              <a:t>EncoderOutput</a:t>
            </a:r>
            <a:r>
              <a:rPr lang="en-US" sz="1700" dirty="0">
                <a:ea typeface="+mn-lt"/>
                <a:cs typeface="+mn-lt"/>
              </a:rPr>
              <a:t>))</a:t>
            </a:r>
          </a:p>
          <a:p>
            <a:pPr marL="514350" lvl="1" algn="just">
              <a:lnSpc>
                <a:spcPct val="150000"/>
              </a:lnSpc>
              <a:buFont typeface="Courier New" panose="020B0604020202020204" pitchFamily="34" charset="0"/>
              <a:buChar char="o"/>
            </a:pPr>
            <a:r>
              <a:rPr lang="en-US" sz="1700" dirty="0">
                <a:ea typeface="+mn-lt"/>
                <a:cs typeface="+mn-lt"/>
              </a:rPr>
              <a:t>z3 = </a:t>
            </a:r>
            <a:r>
              <a:rPr lang="en-US" sz="1700" err="1">
                <a:ea typeface="+mn-lt"/>
                <a:cs typeface="+mn-lt"/>
              </a:rPr>
              <a:t>LayerNorm</a:t>
            </a:r>
            <a:r>
              <a:rPr lang="en-US" sz="1700" dirty="0">
                <a:ea typeface="+mn-lt"/>
                <a:cs typeface="+mn-lt"/>
              </a:rPr>
              <a:t>(z2 + </a:t>
            </a:r>
            <a:r>
              <a:rPr lang="en-US" sz="1700" err="1">
                <a:ea typeface="+mn-lt"/>
                <a:cs typeface="+mn-lt"/>
              </a:rPr>
              <a:t>FeedForward</a:t>
            </a:r>
            <a:r>
              <a:rPr lang="en-US" sz="1700" dirty="0">
                <a:ea typeface="+mn-lt"/>
                <a:cs typeface="+mn-lt"/>
              </a:rPr>
              <a:t>(z2))</a:t>
            </a:r>
          </a:p>
          <a:p>
            <a:pPr marL="285750" indent="-285750" algn="just">
              <a:lnSpc>
                <a:spcPct val="150000"/>
              </a:lnSpc>
              <a:buChar char="•"/>
            </a:pPr>
            <a:r>
              <a:rPr lang="en-US" sz="1700" dirty="0">
                <a:ea typeface="+mn-lt"/>
                <a:cs typeface="+mn-lt"/>
              </a:rPr>
              <a:t>With z3 being the output of the layer. As you can see, it’s still built on the general formula.</a:t>
            </a:r>
            <a:endParaRPr lang="en-US" sz="1700" dirty="0"/>
          </a:p>
          <a:p>
            <a:pPr algn="just">
              <a:lnSpc>
                <a:spcPct val="150000"/>
              </a:lnSpc>
            </a:pPr>
            <a:endParaRPr lang="en-US" sz="1800" dirty="0"/>
          </a:p>
          <a:p>
            <a:pPr algn="just">
              <a:lnSpc>
                <a:spcPct val="150000"/>
              </a:lnSpc>
            </a:pPr>
            <a:endParaRPr lang="en-US" sz="1800" dirty="0"/>
          </a:p>
        </p:txBody>
      </p:sp>
      <p:sp>
        <p:nvSpPr>
          <p:cNvPr id="5" name="Slide Number Placeholder 4">
            <a:extLst>
              <a:ext uri="{FF2B5EF4-FFF2-40B4-BE49-F238E27FC236}">
                <a16:creationId xmlns:a16="http://schemas.microsoft.com/office/drawing/2014/main" id="{EE08C3B8-E96C-A0AC-6A40-3E9586624217}"/>
              </a:ext>
            </a:extLst>
          </p:cNvPr>
          <p:cNvSpPr>
            <a:spLocks noGrp="1"/>
          </p:cNvSpPr>
          <p:nvPr>
            <p:ph type="sldNum" sz="quarter" idx="15"/>
          </p:nvPr>
        </p:nvSpPr>
        <p:spPr/>
        <p:txBody>
          <a:bodyPr/>
          <a:lstStyle/>
          <a:p>
            <a:fld id="{18D65601-5AE2-46FC-B138-694DDD2B510D}" type="slidenum">
              <a:rPr lang="en-US" smtClean="0"/>
              <a:pPr/>
              <a:t>24</a:t>
            </a:fld>
            <a:endParaRPr lang="en-US"/>
          </a:p>
        </p:txBody>
      </p:sp>
    </p:spTree>
    <p:extLst>
      <p:ext uri="{BB962C8B-B14F-4D97-AF65-F5344CB8AC3E}">
        <p14:creationId xmlns:p14="http://schemas.microsoft.com/office/powerpoint/2010/main" val="33859112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2FE76-CE71-339B-8890-F3C7398D1370}"/>
              </a:ext>
            </a:extLst>
          </p:cNvPr>
          <p:cNvSpPr>
            <a:spLocks noGrp="1"/>
          </p:cNvSpPr>
          <p:nvPr>
            <p:ph type="title"/>
          </p:nvPr>
        </p:nvSpPr>
        <p:spPr/>
        <p:txBody>
          <a:bodyPr/>
          <a:lstStyle/>
          <a:p>
            <a:r>
              <a:rPr lang="en-US" dirty="0">
                <a:ea typeface="+mj-lt"/>
                <a:cs typeface="+mj-lt"/>
              </a:rPr>
              <a:t>Advantages Over Previous Models</a:t>
            </a:r>
            <a:endParaRPr lang="en-US" dirty="0"/>
          </a:p>
        </p:txBody>
      </p:sp>
    </p:spTree>
    <p:extLst>
      <p:ext uri="{BB962C8B-B14F-4D97-AF65-F5344CB8AC3E}">
        <p14:creationId xmlns:p14="http://schemas.microsoft.com/office/powerpoint/2010/main" val="28747013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77C60-21C8-2607-407F-228311D81E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222C2B-8976-3B3F-3414-FECB1C4E39C6}"/>
              </a:ext>
            </a:extLst>
          </p:cNvPr>
          <p:cNvSpPr>
            <a:spLocks noGrp="1"/>
          </p:cNvSpPr>
          <p:nvPr>
            <p:ph type="title"/>
          </p:nvPr>
        </p:nvSpPr>
        <p:spPr>
          <a:xfrm>
            <a:off x="1468815" y="503852"/>
            <a:ext cx="9150675" cy="1427585"/>
          </a:xfrm>
        </p:spPr>
        <p:txBody>
          <a:bodyPr/>
          <a:lstStyle/>
          <a:p>
            <a:r>
              <a:rPr lang="en-US" dirty="0">
                <a:ea typeface="+mj-lt"/>
                <a:cs typeface="+mj-lt"/>
              </a:rPr>
              <a:t>Advantages Over Previous Models</a:t>
            </a:r>
          </a:p>
          <a:p>
            <a:endParaRPr lang="en-US" dirty="0"/>
          </a:p>
        </p:txBody>
      </p:sp>
      <p:sp>
        <p:nvSpPr>
          <p:cNvPr id="3" name="Content Placeholder 2">
            <a:extLst>
              <a:ext uri="{FF2B5EF4-FFF2-40B4-BE49-F238E27FC236}">
                <a16:creationId xmlns:a16="http://schemas.microsoft.com/office/drawing/2014/main" id="{2125F978-58AB-358A-99B0-9D2F0B0EF44B}"/>
              </a:ext>
            </a:extLst>
          </p:cNvPr>
          <p:cNvSpPr>
            <a:spLocks noGrp="1"/>
          </p:cNvSpPr>
          <p:nvPr>
            <p:ph sz="quarter" idx="12"/>
          </p:nvPr>
        </p:nvSpPr>
        <p:spPr>
          <a:xfrm>
            <a:off x="1467670" y="2108722"/>
            <a:ext cx="8902609" cy="4154497"/>
          </a:xfrm>
        </p:spPr>
        <p:txBody>
          <a:bodyPr vert="horz" lIns="0" tIns="0" rIns="0" bIns="0" rtlCol="0" anchor="t">
            <a:normAutofit/>
          </a:bodyPr>
          <a:lstStyle/>
          <a:p>
            <a:pPr algn="just">
              <a:lnSpc>
                <a:spcPct val="150000"/>
              </a:lnSpc>
            </a:pPr>
            <a:r>
              <a:rPr lang="en-US" sz="1800" dirty="0"/>
              <a:t>The</a:t>
            </a:r>
            <a:r>
              <a:rPr lang="en-US" sz="1800" dirty="0">
                <a:ea typeface="+mn-lt"/>
                <a:cs typeface="+mn-lt"/>
              </a:rPr>
              <a:t> Transformer model brings several advantages compared to previous models like RNNs and LSTMs:</a:t>
            </a:r>
            <a:endParaRPr lang="en-US" sz="1800" dirty="0"/>
          </a:p>
          <a:p>
            <a:pPr lvl="1" algn="just">
              <a:lnSpc>
                <a:spcPct val="150000"/>
              </a:lnSpc>
              <a:buFont typeface="Courier New" panose="020B0604020202020204" pitchFamily="34" charset="0"/>
              <a:buChar char="o"/>
            </a:pPr>
            <a:r>
              <a:rPr lang="en-US" sz="1800" dirty="0"/>
              <a:t>Parallelism</a:t>
            </a:r>
            <a:r>
              <a:rPr lang="en-US" sz="1800" dirty="0">
                <a:ea typeface="+mn-lt"/>
                <a:cs typeface="+mn-lt"/>
              </a:rPr>
              <a:t>: Self-attention allows the model to process all words in the input simultaneously, speeding up training significantly.</a:t>
            </a:r>
            <a:endParaRPr lang="en-US" sz="1800" dirty="0"/>
          </a:p>
          <a:p>
            <a:pPr lvl="1" algn="just">
              <a:lnSpc>
                <a:spcPct val="150000"/>
              </a:lnSpc>
              <a:buFont typeface="Courier New" panose="020B0604020202020204" pitchFamily="34" charset="0"/>
              <a:buChar char="o"/>
            </a:pPr>
            <a:r>
              <a:rPr lang="en-US" sz="1800" dirty="0">
                <a:ea typeface="+mn-lt"/>
                <a:cs typeface="+mn-lt"/>
              </a:rPr>
              <a:t>Long-Range Dependencies: The attention mechanism helps capture relationships between words, no matter how far apart they are in a sequence.</a:t>
            </a:r>
            <a:endParaRPr lang="en-US" sz="1800" dirty="0"/>
          </a:p>
          <a:p>
            <a:pPr lvl="1" algn="just">
              <a:lnSpc>
                <a:spcPct val="150000"/>
              </a:lnSpc>
              <a:buFont typeface="Courier New" panose="020B0604020202020204" pitchFamily="34" charset="0"/>
              <a:buChar char="o"/>
            </a:pPr>
            <a:r>
              <a:rPr lang="en-US" sz="1800" dirty="0">
                <a:ea typeface="+mn-lt"/>
                <a:cs typeface="+mn-lt"/>
              </a:rPr>
              <a:t>Scalability: Since the model doesn’t depend on sequential processing, it’s easier to scale to longer texts and bigger datasets.</a:t>
            </a:r>
          </a:p>
          <a:p>
            <a:pPr algn="just">
              <a:lnSpc>
                <a:spcPct val="150000"/>
              </a:lnSpc>
            </a:pPr>
            <a:endParaRPr lang="en-US" sz="1900"/>
          </a:p>
        </p:txBody>
      </p:sp>
      <p:sp>
        <p:nvSpPr>
          <p:cNvPr id="4" name="Slide Number Placeholder 3">
            <a:extLst>
              <a:ext uri="{FF2B5EF4-FFF2-40B4-BE49-F238E27FC236}">
                <a16:creationId xmlns:a16="http://schemas.microsoft.com/office/drawing/2014/main" id="{89AE8946-9EE3-4C56-229E-88F8F57FE793}"/>
              </a:ext>
            </a:extLst>
          </p:cNvPr>
          <p:cNvSpPr>
            <a:spLocks noGrp="1"/>
          </p:cNvSpPr>
          <p:nvPr>
            <p:ph type="sldNum" sz="quarter" idx="15"/>
          </p:nvPr>
        </p:nvSpPr>
        <p:spPr/>
        <p:txBody>
          <a:bodyPr/>
          <a:lstStyle/>
          <a:p>
            <a:fld id="{18D65601-5AE2-46FC-B138-694DDD2B510D}" type="slidenum">
              <a:rPr lang="en-US" smtClean="0"/>
              <a:pPr/>
              <a:t>26</a:t>
            </a:fld>
            <a:endParaRPr lang="en-US"/>
          </a:p>
        </p:txBody>
      </p:sp>
    </p:spTree>
    <p:extLst>
      <p:ext uri="{BB962C8B-B14F-4D97-AF65-F5344CB8AC3E}">
        <p14:creationId xmlns:p14="http://schemas.microsoft.com/office/powerpoint/2010/main" val="33729151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47C44-5A27-7F38-7F03-7931ED3FA6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6FE120-A335-94EC-46E9-3AD180754CF2}"/>
              </a:ext>
            </a:extLst>
          </p:cNvPr>
          <p:cNvSpPr>
            <a:spLocks noGrp="1"/>
          </p:cNvSpPr>
          <p:nvPr>
            <p:ph type="title"/>
          </p:nvPr>
        </p:nvSpPr>
        <p:spPr>
          <a:xfrm>
            <a:off x="1038031" y="1068169"/>
            <a:ext cx="10115939" cy="2681549"/>
          </a:xfrm>
        </p:spPr>
        <p:txBody>
          <a:bodyPr/>
          <a:lstStyle/>
          <a:p>
            <a:r>
              <a:rPr lang="en-US" dirty="0"/>
              <a:t>Training</a:t>
            </a:r>
            <a:r>
              <a:rPr lang="en-US" dirty="0">
                <a:ea typeface="+mj-lt"/>
                <a:cs typeface="+mj-lt"/>
              </a:rPr>
              <a:t> the Transformer</a:t>
            </a:r>
            <a:endParaRPr lang="en-ZA" dirty="0"/>
          </a:p>
        </p:txBody>
      </p:sp>
      <p:sp>
        <p:nvSpPr>
          <p:cNvPr id="3" name="Text Placeholder 2">
            <a:extLst>
              <a:ext uri="{FF2B5EF4-FFF2-40B4-BE49-F238E27FC236}">
                <a16:creationId xmlns:a16="http://schemas.microsoft.com/office/drawing/2014/main" id="{4A6AC0C8-B026-FD4F-2CE5-95D0AE4615A9}"/>
              </a:ext>
            </a:extLst>
          </p:cNvPr>
          <p:cNvSpPr>
            <a:spLocks noGrp="1"/>
          </p:cNvSpPr>
          <p:nvPr>
            <p:ph type="body" sz="quarter" idx="12"/>
          </p:nvPr>
        </p:nvSpPr>
        <p:spPr>
          <a:xfrm>
            <a:off x="1038031" y="4027047"/>
            <a:ext cx="10115939" cy="1762783"/>
          </a:xfrm>
        </p:spPr>
        <p:txBody>
          <a:bodyPr/>
          <a:lstStyle/>
          <a:p>
            <a:r>
              <a:rPr lang="en-US" dirty="0"/>
              <a:t>How</a:t>
            </a:r>
            <a:r>
              <a:rPr lang="en-US" dirty="0">
                <a:ea typeface="+mn-lt"/>
                <a:cs typeface="+mn-lt"/>
              </a:rPr>
              <a:t> It Works</a:t>
            </a:r>
            <a:endParaRPr lang="en-US" dirty="0"/>
          </a:p>
        </p:txBody>
      </p:sp>
    </p:spTree>
    <p:extLst>
      <p:ext uri="{BB962C8B-B14F-4D97-AF65-F5344CB8AC3E}">
        <p14:creationId xmlns:p14="http://schemas.microsoft.com/office/powerpoint/2010/main" val="37130761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B8532-4934-C544-DEBC-937E0AF38D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2AB5C7-D498-7CC9-6CAE-F49C51DA11B5}"/>
              </a:ext>
            </a:extLst>
          </p:cNvPr>
          <p:cNvSpPr>
            <a:spLocks noGrp="1"/>
          </p:cNvSpPr>
          <p:nvPr>
            <p:ph type="title"/>
          </p:nvPr>
        </p:nvSpPr>
        <p:spPr/>
        <p:txBody>
          <a:bodyPr/>
          <a:lstStyle/>
          <a:p>
            <a:r>
              <a:rPr lang="en-US" dirty="0"/>
              <a:t>Training</a:t>
            </a:r>
            <a:r>
              <a:rPr lang="en-US" dirty="0">
                <a:ea typeface="+mj-lt"/>
                <a:cs typeface="+mj-lt"/>
              </a:rPr>
              <a:t> Data and Batching</a:t>
            </a:r>
            <a:endParaRPr lang="en-US" dirty="0"/>
          </a:p>
        </p:txBody>
      </p:sp>
      <p:sp>
        <p:nvSpPr>
          <p:cNvPr id="4" name="Content Placeholder 3">
            <a:extLst>
              <a:ext uri="{FF2B5EF4-FFF2-40B4-BE49-F238E27FC236}">
                <a16:creationId xmlns:a16="http://schemas.microsoft.com/office/drawing/2014/main" id="{80450E25-B25F-1929-D986-E4EB6A8D5F51}"/>
              </a:ext>
            </a:extLst>
          </p:cNvPr>
          <p:cNvSpPr>
            <a:spLocks noGrp="1"/>
          </p:cNvSpPr>
          <p:nvPr>
            <p:ph sz="quarter" idx="11"/>
          </p:nvPr>
        </p:nvSpPr>
        <p:spPr>
          <a:xfrm>
            <a:off x="1469314" y="2057401"/>
            <a:ext cx="9808270" cy="4119463"/>
          </a:xfrm>
        </p:spPr>
        <p:txBody>
          <a:bodyPr vert="horz" lIns="0" tIns="45720" rIns="91440" bIns="45720" rtlCol="0" anchor="t">
            <a:normAutofit/>
          </a:bodyPr>
          <a:lstStyle/>
          <a:p>
            <a:pPr marL="285750" indent="-285750" algn="just">
              <a:lnSpc>
                <a:spcPct val="150000"/>
              </a:lnSpc>
              <a:buChar char="•"/>
            </a:pPr>
            <a:r>
              <a:rPr lang="en-US" sz="1800" dirty="0">
                <a:ea typeface="+mn-lt"/>
                <a:cs typeface="+mn-lt"/>
              </a:rPr>
              <a:t>The authors trained the Transformer model on machine translation tasks, specifically translating between English and German, and English and French.</a:t>
            </a:r>
            <a:endParaRPr lang="en-US" dirty="0"/>
          </a:p>
          <a:p>
            <a:pPr marL="285750" indent="-285750" algn="just">
              <a:lnSpc>
                <a:spcPct val="150000"/>
              </a:lnSpc>
              <a:buChar char="•"/>
            </a:pPr>
            <a:r>
              <a:rPr lang="en-US" sz="1800" dirty="0">
                <a:ea typeface="+mn-lt"/>
                <a:cs typeface="+mn-lt"/>
              </a:rPr>
              <a:t>The English-to-German translation model was trained on the 2014 WMT (Workshop on Statistical Machine Translation) English-German dataset, consisting of nearly 4.5 million sentences derived from TED Talks and high-quality news articles. </a:t>
            </a:r>
          </a:p>
          <a:p>
            <a:pPr marL="285750" indent="-285750" algn="just">
              <a:lnSpc>
                <a:spcPct val="150000"/>
              </a:lnSpc>
              <a:buChar char="•"/>
            </a:pPr>
            <a:r>
              <a:rPr lang="en-US" sz="1800" dirty="0">
                <a:ea typeface="+mn-lt"/>
                <a:cs typeface="+mn-lt"/>
              </a:rPr>
              <a:t>A separate translation model was trained on the much larger 2014 WMT English-French dataset, consisting of 36 million sentences. Both datasets were encoded with byte-pair encoding. </a:t>
            </a:r>
            <a:endParaRPr lang="en-US" sz="1800" dirty="0"/>
          </a:p>
          <a:p>
            <a:pPr algn="just">
              <a:lnSpc>
                <a:spcPct val="150000"/>
              </a:lnSpc>
            </a:pPr>
            <a:endParaRPr lang="en-US" sz="1800" dirty="0"/>
          </a:p>
          <a:p>
            <a:pPr algn="just">
              <a:lnSpc>
                <a:spcPct val="150000"/>
              </a:lnSpc>
            </a:pPr>
            <a:endParaRPr lang="en-US" sz="1800" dirty="0"/>
          </a:p>
        </p:txBody>
      </p:sp>
      <p:sp>
        <p:nvSpPr>
          <p:cNvPr id="5" name="Slide Number Placeholder 4">
            <a:extLst>
              <a:ext uri="{FF2B5EF4-FFF2-40B4-BE49-F238E27FC236}">
                <a16:creationId xmlns:a16="http://schemas.microsoft.com/office/drawing/2014/main" id="{3AF4AD1E-2E9B-817F-E9C1-A52C71D403AC}"/>
              </a:ext>
            </a:extLst>
          </p:cNvPr>
          <p:cNvSpPr>
            <a:spLocks noGrp="1"/>
          </p:cNvSpPr>
          <p:nvPr>
            <p:ph type="sldNum" sz="quarter" idx="15"/>
          </p:nvPr>
        </p:nvSpPr>
        <p:spPr/>
        <p:txBody>
          <a:bodyPr/>
          <a:lstStyle/>
          <a:p>
            <a:fld id="{18D65601-5AE2-46FC-B138-694DDD2B510D}" type="slidenum">
              <a:rPr lang="en-US" smtClean="0"/>
              <a:pPr/>
              <a:t>28</a:t>
            </a:fld>
            <a:endParaRPr lang="en-US"/>
          </a:p>
        </p:txBody>
      </p:sp>
    </p:spTree>
    <p:extLst>
      <p:ext uri="{BB962C8B-B14F-4D97-AF65-F5344CB8AC3E}">
        <p14:creationId xmlns:p14="http://schemas.microsoft.com/office/powerpoint/2010/main" val="34317896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3C8C0-99FF-6533-A7F3-35D4B1EF69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186F12-659F-3E46-8048-B4C593973F19}"/>
              </a:ext>
            </a:extLst>
          </p:cNvPr>
          <p:cNvSpPr>
            <a:spLocks noGrp="1"/>
          </p:cNvSpPr>
          <p:nvPr>
            <p:ph type="title"/>
          </p:nvPr>
        </p:nvSpPr>
        <p:spPr/>
        <p:txBody>
          <a:bodyPr/>
          <a:lstStyle/>
          <a:p>
            <a:r>
              <a:rPr lang="en-US" dirty="0">
                <a:ea typeface="+mj-lt"/>
                <a:cs typeface="+mj-lt"/>
              </a:rPr>
              <a:t>Hardware and Schedule</a:t>
            </a:r>
          </a:p>
        </p:txBody>
      </p:sp>
      <p:sp>
        <p:nvSpPr>
          <p:cNvPr id="4" name="Content Placeholder 3">
            <a:extLst>
              <a:ext uri="{FF2B5EF4-FFF2-40B4-BE49-F238E27FC236}">
                <a16:creationId xmlns:a16="http://schemas.microsoft.com/office/drawing/2014/main" id="{FE4C7300-81C0-9C6D-489B-824164CE115C}"/>
              </a:ext>
            </a:extLst>
          </p:cNvPr>
          <p:cNvSpPr>
            <a:spLocks noGrp="1"/>
          </p:cNvSpPr>
          <p:nvPr>
            <p:ph sz="quarter" idx="11"/>
          </p:nvPr>
        </p:nvSpPr>
        <p:spPr>
          <a:xfrm>
            <a:off x="1469314" y="2057401"/>
            <a:ext cx="9808270" cy="4119463"/>
          </a:xfrm>
        </p:spPr>
        <p:txBody>
          <a:bodyPr vert="horz" lIns="0" tIns="45720" rIns="91440" bIns="45720" rtlCol="0" anchor="t">
            <a:normAutofit/>
          </a:bodyPr>
          <a:lstStyle/>
          <a:p>
            <a:pPr marL="285750" indent="-285750" algn="just">
              <a:lnSpc>
                <a:spcPct val="150000"/>
              </a:lnSpc>
              <a:buChar char="•"/>
            </a:pPr>
            <a:r>
              <a:rPr lang="en-US" sz="1800" dirty="0">
                <a:ea typeface="+mn-lt"/>
                <a:cs typeface="+mn-lt"/>
              </a:rPr>
              <a:t>The models were trained using 8 NVIDIA P100 GPUs. </a:t>
            </a:r>
          </a:p>
          <a:p>
            <a:pPr marL="285750" indent="-285750" algn="just">
              <a:lnSpc>
                <a:spcPct val="150000"/>
              </a:lnSpc>
              <a:buChar char="•"/>
            </a:pPr>
            <a:r>
              <a:rPr lang="en-US" sz="1800" dirty="0">
                <a:ea typeface="+mn-lt"/>
                <a:cs typeface="+mn-lt"/>
              </a:rPr>
              <a:t>The base models were trained for 100,000 steps and the big models were trained for 300,000 steps - each step taking about 0.4 seconds to complete for the base models and 1.0 seconds for the big models. </a:t>
            </a:r>
            <a:endParaRPr lang="en-US" sz="1800">
              <a:ea typeface="+mn-lt"/>
              <a:cs typeface="+mn-lt"/>
            </a:endParaRPr>
          </a:p>
          <a:p>
            <a:pPr marL="285750" indent="-285750" algn="just">
              <a:lnSpc>
                <a:spcPct val="150000"/>
              </a:lnSpc>
              <a:buChar char="•"/>
            </a:pPr>
            <a:r>
              <a:rPr lang="en-US" sz="1800" dirty="0">
                <a:ea typeface="+mn-lt"/>
                <a:cs typeface="+mn-lt"/>
              </a:rPr>
              <a:t>The base model trained for a total of 12 hours, and the big model trained for a total of 3.5 days. Both the base and big models outperforms the 2017 state-of-the-art in both English-German and English-French while achieving the comparatively lowest training cost.</a:t>
            </a:r>
            <a:endParaRPr lang="en-US" sz="1800" dirty="0"/>
          </a:p>
          <a:p>
            <a:pPr algn="just">
              <a:lnSpc>
                <a:spcPct val="150000"/>
              </a:lnSpc>
            </a:pPr>
            <a:endParaRPr lang="en-US" sz="1800" dirty="0"/>
          </a:p>
          <a:p>
            <a:pPr algn="just">
              <a:lnSpc>
                <a:spcPct val="150000"/>
              </a:lnSpc>
            </a:pPr>
            <a:endParaRPr lang="en-US" sz="1800" dirty="0"/>
          </a:p>
        </p:txBody>
      </p:sp>
      <p:sp>
        <p:nvSpPr>
          <p:cNvPr id="5" name="Slide Number Placeholder 4">
            <a:extLst>
              <a:ext uri="{FF2B5EF4-FFF2-40B4-BE49-F238E27FC236}">
                <a16:creationId xmlns:a16="http://schemas.microsoft.com/office/drawing/2014/main" id="{07D582A7-7982-D3FE-81BA-C3B146823DB7}"/>
              </a:ext>
            </a:extLst>
          </p:cNvPr>
          <p:cNvSpPr>
            <a:spLocks noGrp="1"/>
          </p:cNvSpPr>
          <p:nvPr>
            <p:ph type="sldNum" sz="quarter" idx="15"/>
          </p:nvPr>
        </p:nvSpPr>
        <p:spPr/>
        <p:txBody>
          <a:bodyPr/>
          <a:lstStyle/>
          <a:p>
            <a:fld id="{18D65601-5AE2-46FC-B138-694DDD2B510D}" type="slidenum">
              <a:rPr lang="en-US" smtClean="0"/>
              <a:pPr/>
              <a:t>29</a:t>
            </a:fld>
            <a:endParaRPr lang="en-US"/>
          </a:p>
        </p:txBody>
      </p:sp>
    </p:spTree>
    <p:extLst>
      <p:ext uri="{BB962C8B-B14F-4D97-AF65-F5344CB8AC3E}">
        <p14:creationId xmlns:p14="http://schemas.microsoft.com/office/powerpoint/2010/main" val="34890779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1FFA1-8357-4242-ADAD-E04F5CF1AA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FA0CC1-09E8-44EC-2EF2-ECBBD01B0921}"/>
              </a:ext>
            </a:extLst>
          </p:cNvPr>
          <p:cNvSpPr>
            <a:spLocks noGrp="1"/>
          </p:cNvSpPr>
          <p:nvPr>
            <p:ph type="title"/>
          </p:nvPr>
        </p:nvSpPr>
        <p:spPr/>
        <p:txBody>
          <a:bodyPr/>
          <a:lstStyle/>
          <a:p>
            <a:r>
              <a:rPr lang="en-US" dirty="0">
                <a:ea typeface="+mj-lt"/>
                <a:cs typeface="+mj-lt"/>
              </a:rPr>
              <a:t>Hyperparameters and regularization</a:t>
            </a:r>
          </a:p>
        </p:txBody>
      </p:sp>
      <p:sp>
        <p:nvSpPr>
          <p:cNvPr id="4" name="Content Placeholder 3">
            <a:extLst>
              <a:ext uri="{FF2B5EF4-FFF2-40B4-BE49-F238E27FC236}">
                <a16:creationId xmlns:a16="http://schemas.microsoft.com/office/drawing/2014/main" id="{81201D49-A77F-E7F3-5454-F92516D8FB61}"/>
              </a:ext>
            </a:extLst>
          </p:cNvPr>
          <p:cNvSpPr>
            <a:spLocks noGrp="1"/>
          </p:cNvSpPr>
          <p:nvPr>
            <p:ph sz="quarter" idx="11"/>
          </p:nvPr>
        </p:nvSpPr>
        <p:spPr>
          <a:xfrm>
            <a:off x="1469314" y="2057401"/>
            <a:ext cx="9808270" cy="4119463"/>
          </a:xfrm>
        </p:spPr>
        <p:txBody>
          <a:bodyPr vert="horz" lIns="0" tIns="45720" rIns="91440" bIns="45720" rtlCol="0" anchor="t">
            <a:normAutofit/>
          </a:bodyPr>
          <a:lstStyle/>
          <a:p>
            <a:pPr marL="285750" indent="-285750" algn="just">
              <a:lnSpc>
                <a:spcPct val="150000"/>
              </a:lnSpc>
              <a:buChar char="•"/>
            </a:pPr>
            <a:r>
              <a:rPr lang="en-US" sz="1800" dirty="0">
                <a:ea typeface="+mn-lt"/>
                <a:cs typeface="+mn-lt"/>
              </a:rPr>
              <a:t>For training the Transformer model, the authors used the Adam optimizer and increased the learning rate linearly for the first 4000 (warmup) steps and decreased it proportionally to inverse square root of the current step number. </a:t>
            </a:r>
            <a:endParaRPr lang="en-US" dirty="0">
              <a:ea typeface="+mn-lt"/>
              <a:cs typeface="+mn-lt"/>
            </a:endParaRPr>
          </a:p>
          <a:p>
            <a:pPr marL="285750" indent="-285750" algn="just">
              <a:lnSpc>
                <a:spcPct val="150000"/>
              </a:lnSpc>
              <a:buChar char="•"/>
            </a:pPr>
            <a:r>
              <a:rPr lang="en-US" sz="1800" dirty="0">
                <a:ea typeface="+mn-lt"/>
                <a:cs typeface="+mn-lt"/>
              </a:rPr>
              <a:t>Dropout layers were applied to the output of each sub-layer before normalization, the sums of the embeddings, and the positional encodings. The dropout rate was set to 0.1. </a:t>
            </a:r>
            <a:endParaRPr lang="en-US">
              <a:ea typeface="+mn-lt"/>
              <a:cs typeface="+mn-lt"/>
            </a:endParaRPr>
          </a:p>
          <a:p>
            <a:pPr marL="285750" indent="-285750" algn="just">
              <a:lnSpc>
                <a:spcPct val="150000"/>
              </a:lnSpc>
              <a:buChar char="•"/>
            </a:pPr>
            <a:r>
              <a:rPr lang="en-US" sz="1800" dirty="0">
                <a:ea typeface="+mn-lt"/>
                <a:cs typeface="+mn-lt"/>
              </a:rPr>
              <a:t>Label smoothing was applied with a value of 0.1 which "improves accuracy and BLEU score"</a:t>
            </a:r>
            <a:endParaRPr lang="en-US"/>
          </a:p>
          <a:p>
            <a:pPr algn="just">
              <a:lnSpc>
                <a:spcPct val="150000"/>
              </a:lnSpc>
            </a:pPr>
            <a:endParaRPr lang="en-US" sz="1800" dirty="0"/>
          </a:p>
          <a:p>
            <a:pPr algn="just">
              <a:lnSpc>
                <a:spcPct val="150000"/>
              </a:lnSpc>
            </a:pPr>
            <a:endParaRPr lang="en-US" sz="1800" dirty="0"/>
          </a:p>
        </p:txBody>
      </p:sp>
      <p:sp>
        <p:nvSpPr>
          <p:cNvPr id="5" name="Slide Number Placeholder 4">
            <a:extLst>
              <a:ext uri="{FF2B5EF4-FFF2-40B4-BE49-F238E27FC236}">
                <a16:creationId xmlns:a16="http://schemas.microsoft.com/office/drawing/2014/main" id="{9FC2F581-D96F-6ED0-C60F-96E6D1BE8A7E}"/>
              </a:ext>
            </a:extLst>
          </p:cNvPr>
          <p:cNvSpPr>
            <a:spLocks noGrp="1"/>
          </p:cNvSpPr>
          <p:nvPr>
            <p:ph type="sldNum" sz="quarter" idx="15"/>
          </p:nvPr>
        </p:nvSpPr>
        <p:spPr/>
        <p:txBody>
          <a:bodyPr/>
          <a:lstStyle/>
          <a:p>
            <a:fld id="{18D65601-5AE2-46FC-B138-694DDD2B510D}" type="slidenum">
              <a:rPr lang="en-US" smtClean="0"/>
              <a:pPr/>
              <a:t>30</a:t>
            </a:fld>
            <a:endParaRPr lang="en-US"/>
          </a:p>
        </p:txBody>
      </p:sp>
    </p:spTree>
    <p:extLst>
      <p:ext uri="{BB962C8B-B14F-4D97-AF65-F5344CB8AC3E}">
        <p14:creationId xmlns:p14="http://schemas.microsoft.com/office/powerpoint/2010/main" val="30671912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CDA61-37A9-4F8C-1676-A2EC985967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B3EF5F-7007-A2D3-795A-B6CD6F8CA952}"/>
              </a:ext>
            </a:extLst>
          </p:cNvPr>
          <p:cNvSpPr>
            <a:spLocks noGrp="1"/>
          </p:cNvSpPr>
          <p:nvPr>
            <p:ph type="title"/>
          </p:nvPr>
        </p:nvSpPr>
        <p:spPr/>
        <p:txBody>
          <a:bodyPr/>
          <a:lstStyle/>
          <a:p>
            <a:r>
              <a:rPr lang="en-US" dirty="0">
                <a:ea typeface="+mj-lt"/>
                <a:cs typeface="+mj-lt"/>
              </a:rPr>
              <a:t>Results</a:t>
            </a:r>
          </a:p>
        </p:txBody>
      </p:sp>
      <p:sp>
        <p:nvSpPr>
          <p:cNvPr id="5" name="Slide Number Placeholder 4">
            <a:extLst>
              <a:ext uri="{FF2B5EF4-FFF2-40B4-BE49-F238E27FC236}">
                <a16:creationId xmlns:a16="http://schemas.microsoft.com/office/drawing/2014/main" id="{E0176B29-7A4C-380A-B227-8F0723A3FD25}"/>
              </a:ext>
            </a:extLst>
          </p:cNvPr>
          <p:cNvSpPr>
            <a:spLocks noGrp="1"/>
          </p:cNvSpPr>
          <p:nvPr>
            <p:ph type="sldNum" sz="quarter" idx="15"/>
          </p:nvPr>
        </p:nvSpPr>
        <p:spPr/>
        <p:txBody>
          <a:bodyPr/>
          <a:lstStyle/>
          <a:p>
            <a:fld id="{18D65601-5AE2-46FC-B138-694DDD2B510D}" type="slidenum">
              <a:rPr lang="en-US" smtClean="0"/>
              <a:pPr/>
              <a:t>31</a:t>
            </a:fld>
            <a:endParaRPr lang="en-US"/>
          </a:p>
        </p:txBody>
      </p:sp>
      <p:pic>
        <p:nvPicPr>
          <p:cNvPr id="9" name="Content Placeholder 8" descr="A table with numbers and text&#10;&#10;AI-generated content may be incorrect.">
            <a:extLst>
              <a:ext uri="{FF2B5EF4-FFF2-40B4-BE49-F238E27FC236}">
                <a16:creationId xmlns:a16="http://schemas.microsoft.com/office/drawing/2014/main" id="{3C683C23-F7BC-914C-A323-911D17E96D8D}"/>
              </a:ext>
            </a:extLst>
          </p:cNvPr>
          <p:cNvPicPr>
            <a:picLocks noGrp="1" noChangeAspect="1"/>
          </p:cNvPicPr>
          <p:nvPr>
            <p:ph sz="quarter" idx="11"/>
          </p:nvPr>
        </p:nvPicPr>
        <p:blipFill>
          <a:blip r:embed="rId2"/>
          <a:stretch>
            <a:fillRect/>
          </a:stretch>
        </p:blipFill>
        <p:spPr>
          <a:xfrm>
            <a:off x="3329060" y="2727538"/>
            <a:ext cx="6085857" cy="2779189"/>
          </a:xfrm>
          <a:prstGeom prst="rect">
            <a:avLst/>
          </a:prstGeom>
        </p:spPr>
      </p:pic>
    </p:spTree>
    <p:extLst>
      <p:ext uri="{BB962C8B-B14F-4D97-AF65-F5344CB8AC3E}">
        <p14:creationId xmlns:p14="http://schemas.microsoft.com/office/powerpoint/2010/main" val="31011222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C9CBC-FBB1-3223-8ECD-EA0137E57CF1}"/>
              </a:ext>
            </a:extLst>
          </p:cNvPr>
          <p:cNvSpPr>
            <a:spLocks noGrp="1"/>
          </p:cNvSpPr>
          <p:nvPr>
            <p:ph type="title"/>
          </p:nvPr>
        </p:nvSpPr>
        <p:spPr/>
        <p:txBody>
          <a:bodyPr/>
          <a:lstStyle/>
          <a:p>
            <a:r>
              <a:rPr lang="en-US" dirty="0">
                <a:ea typeface="+mj-lt"/>
                <a:cs typeface="+mj-lt"/>
              </a:rPr>
              <a:t>Conclusion</a:t>
            </a:r>
            <a:endParaRPr lang="en-US" dirty="0"/>
          </a:p>
        </p:txBody>
      </p:sp>
      <p:sp>
        <p:nvSpPr>
          <p:cNvPr id="4" name="Text Placeholder 3">
            <a:extLst>
              <a:ext uri="{FF2B5EF4-FFF2-40B4-BE49-F238E27FC236}">
                <a16:creationId xmlns:a16="http://schemas.microsoft.com/office/drawing/2014/main" id="{9DC30D60-8C74-62E7-EA88-DB19A9A35240}"/>
              </a:ext>
            </a:extLst>
          </p:cNvPr>
          <p:cNvSpPr>
            <a:spLocks noGrp="1"/>
          </p:cNvSpPr>
          <p:nvPr>
            <p:ph type="body" sz="quarter" idx="12"/>
          </p:nvPr>
        </p:nvSpPr>
        <p:spPr/>
        <p:txBody>
          <a:bodyPr/>
          <a:lstStyle/>
          <a:p>
            <a:r>
              <a:rPr lang="en-US" dirty="0">
                <a:ea typeface="+mn-lt"/>
                <a:cs typeface="+mn-lt"/>
              </a:rPr>
              <a:t>Why Does It Matter?</a:t>
            </a:r>
            <a:endParaRPr lang="en-US" dirty="0"/>
          </a:p>
        </p:txBody>
      </p:sp>
    </p:spTree>
    <p:extLst>
      <p:ext uri="{BB962C8B-B14F-4D97-AF65-F5344CB8AC3E}">
        <p14:creationId xmlns:p14="http://schemas.microsoft.com/office/powerpoint/2010/main" val="15219089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CCE3D-B83F-BEAA-65EF-433346B0F3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88DF78-F203-747C-0843-71778455FFB4}"/>
              </a:ext>
            </a:extLst>
          </p:cNvPr>
          <p:cNvSpPr>
            <a:spLocks noGrp="1"/>
          </p:cNvSpPr>
          <p:nvPr>
            <p:ph type="title"/>
          </p:nvPr>
        </p:nvSpPr>
        <p:spPr>
          <a:xfrm>
            <a:off x="1468815" y="503852"/>
            <a:ext cx="9150675" cy="1427585"/>
          </a:xfrm>
        </p:spPr>
        <p:txBody>
          <a:bodyPr/>
          <a:lstStyle/>
          <a:p>
            <a:r>
              <a:rPr lang="en-US" dirty="0">
                <a:ea typeface="+mj-lt"/>
                <a:cs typeface="+mj-lt"/>
              </a:rPr>
              <a:t>Conclusion</a:t>
            </a:r>
          </a:p>
          <a:p>
            <a:endParaRPr lang="en-US" dirty="0"/>
          </a:p>
        </p:txBody>
      </p:sp>
      <p:sp>
        <p:nvSpPr>
          <p:cNvPr id="3" name="Content Placeholder 2">
            <a:extLst>
              <a:ext uri="{FF2B5EF4-FFF2-40B4-BE49-F238E27FC236}">
                <a16:creationId xmlns:a16="http://schemas.microsoft.com/office/drawing/2014/main" id="{F390CBB4-1E30-4701-687E-AD71D0F62153}"/>
              </a:ext>
            </a:extLst>
          </p:cNvPr>
          <p:cNvSpPr>
            <a:spLocks noGrp="1"/>
          </p:cNvSpPr>
          <p:nvPr>
            <p:ph sz="quarter" idx="12"/>
          </p:nvPr>
        </p:nvSpPr>
        <p:spPr>
          <a:xfrm>
            <a:off x="1467670" y="2108722"/>
            <a:ext cx="8902609" cy="4154497"/>
          </a:xfrm>
        </p:spPr>
        <p:txBody>
          <a:bodyPr vert="horz" lIns="0" tIns="0" rIns="0" bIns="0" rtlCol="0" anchor="t">
            <a:normAutofit/>
          </a:bodyPr>
          <a:lstStyle/>
          <a:p>
            <a:pPr marL="0" indent="0" algn="just">
              <a:lnSpc>
                <a:spcPct val="150000"/>
              </a:lnSpc>
              <a:buNone/>
            </a:pPr>
            <a:r>
              <a:rPr lang="en-US" sz="1800" dirty="0">
                <a:ea typeface="+mn-lt"/>
                <a:cs typeface="+mn-lt"/>
              </a:rPr>
              <a:t>“Attention Is All You Need” is a landmark paper in the field of artificial intelligence. By moving away from sequential processing and focusing entirely on attention mechanisms, the Transformer model solved many of the bottlenecks faced by previous architectures. Its impact on NLP and machine learning continues to grow, with new models and innovations building on its foundations every year.</a:t>
            </a:r>
            <a:endParaRPr lang="en-US" dirty="0"/>
          </a:p>
          <a:p>
            <a:pPr algn="just">
              <a:lnSpc>
                <a:spcPct val="150000"/>
              </a:lnSpc>
            </a:pPr>
            <a:endParaRPr lang="en-US" sz="1900"/>
          </a:p>
        </p:txBody>
      </p:sp>
      <p:sp>
        <p:nvSpPr>
          <p:cNvPr id="4" name="Slide Number Placeholder 3">
            <a:extLst>
              <a:ext uri="{FF2B5EF4-FFF2-40B4-BE49-F238E27FC236}">
                <a16:creationId xmlns:a16="http://schemas.microsoft.com/office/drawing/2014/main" id="{66A8521B-F9BD-0D71-BCC3-73C32ED2AA68}"/>
              </a:ext>
            </a:extLst>
          </p:cNvPr>
          <p:cNvSpPr>
            <a:spLocks noGrp="1"/>
          </p:cNvSpPr>
          <p:nvPr>
            <p:ph type="sldNum" sz="quarter" idx="15"/>
          </p:nvPr>
        </p:nvSpPr>
        <p:spPr/>
        <p:txBody>
          <a:bodyPr/>
          <a:lstStyle/>
          <a:p>
            <a:fld id="{18D65601-5AE2-46FC-B138-694DDD2B510D}" type="slidenum">
              <a:rPr lang="en-US" smtClean="0"/>
              <a:pPr/>
              <a:t>33</a:t>
            </a:fld>
            <a:endParaRPr lang="en-US"/>
          </a:p>
        </p:txBody>
      </p:sp>
    </p:spTree>
    <p:extLst>
      <p:ext uri="{BB962C8B-B14F-4D97-AF65-F5344CB8AC3E}">
        <p14:creationId xmlns:p14="http://schemas.microsoft.com/office/powerpoint/2010/main" val="2116691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101732C-7338-DBA0-BD19-1FA88304749F}"/>
              </a:ext>
            </a:extLst>
          </p:cNvPr>
          <p:cNvSpPr>
            <a:spLocks noGrp="1"/>
          </p:cNvSpPr>
          <p:nvPr>
            <p:ph type="title"/>
          </p:nvPr>
        </p:nvSpPr>
        <p:spPr>
          <a:xfrm>
            <a:off x="1317614" y="690511"/>
            <a:ext cx="4964671" cy="5253089"/>
          </a:xfrm>
        </p:spPr>
        <p:txBody>
          <a:bodyPr/>
          <a:lstStyle/>
          <a:p>
            <a:r>
              <a:rPr lang="en-US"/>
              <a:t>Thank</a:t>
            </a:r>
            <a:br>
              <a:rPr lang="en-US"/>
            </a:br>
            <a:r>
              <a:rPr lang="en-US"/>
              <a:t>you</a:t>
            </a:r>
          </a:p>
        </p:txBody>
      </p:sp>
      <p:sp>
        <p:nvSpPr>
          <p:cNvPr id="2" name="Content Placeholder 1">
            <a:extLst>
              <a:ext uri="{FF2B5EF4-FFF2-40B4-BE49-F238E27FC236}">
                <a16:creationId xmlns:a16="http://schemas.microsoft.com/office/drawing/2014/main" id="{70ECFE66-A9E7-A365-967B-2FD670CB3923}"/>
              </a:ext>
            </a:extLst>
          </p:cNvPr>
          <p:cNvSpPr>
            <a:spLocks noGrp="1"/>
          </p:cNvSpPr>
          <p:nvPr>
            <p:ph sz="quarter" idx="10"/>
          </p:nvPr>
        </p:nvSpPr>
        <p:spPr>
          <a:xfrm>
            <a:off x="6282286" y="690465"/>
            <a:ext cx="4784372" cy="5253089"/>
          </a:xfrm>
        </p:spPr>
        <p:txBody>
          <a:bodyPr/>
          <a:lstStyle/>
          <a:p>
            <a:r>
              <a:rPr lang="en-US" dirty="0"/>
              <a:t>Aashish Mahato</a:t>
            </a:r>
          </a:p>
        </p:txBody>
      </p:sp>
    </p:spTree>
    <p:extLst>
      <p:ext uri="{BB962C8B-B14F-4D97-AF65-F5344CB8AC3E}">
        <p14:creationId xmlns:p14="http://schemas.microsoft.com/office/powerpoint/2010/main" val="704370842"/>
      </p:ext>
    </p:extLst>
  </p:cSld>
  <p:clrMapOvr>
    <a:masterClrMapping/>
  </p:clrMapOvr>
</p:sld>
</file>

<file path=ppt/theme/theme1.xml><?xml version="1.0" encoding="utf-8"?>
<a:theme xmlns:a="http://schemas.openxmlformats.org/drawingml/2006/main" name="Custom">
  <a:themeElements>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fontScheme name="Custom 30">
      <a:majorFont>
        <a:latin typeface="Tisa Offc Serif Pro"/>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5">
              <a:lumMod val="20000"/>
              <a:lumOff val="8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M78544816_Win32_SL_V10" id="{8934A6D9-B969-498F-A646-4B502FD69C4E}" vid="{AA78C1C8-456D-41A9-83FC-BC8B9A8EE3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BDD27D0-5B6E-4A0E-95B2-BB37F9D88615}">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A98CD342-50C4-441F-B4A3-7D5ADB057132}">
  <ds:schemaRefs>
    <ds:schemaRef ds:uri="http://schemas.microsoft.com/sharepoint/v3/contenttype/forms"/>
  </ds:schemaRefs>
</ds:datastoreItem>
</file>

<file path=customXml/itemProps3.xml><?xml version="1.0" encoding="utf-8"?>
<ds:datastoreItem xmlns:ds="http://schemas.openxmlformats.org/officeDocument/2006/customXml" ds:itemID="{3FAE0208-DBD5-43E1-AC6B-D2AD9623F0B9}">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34</Slides>
  <Notes>0</Notes>
  <HiddenSlides>0</HiddenSlide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Custom</vt:lpstr>
      <vt:lpstr>Understanding "Attention Is All You Need"</vt:lpstr>
      <vt:lpstr>Agenda</vt:lpstr>
      <vt:lpstr>Natural Language Processing (NLP)</vt:lpstr>
      <vt:lpstr>Natural Language Processing (NLP)</vt:lpstr>
      <vt:lpstr>Natural Language Processing (NLP)</vt:lpstr>
      <vt:lpstr>Natural language understanding (NLU)</vt:lpstr>
      <vt:lpstr>Natural language generation (NLG)</vt:lpstr>
      <vt:lpstr>Introduction</vt:lpstr>
      <vt:lpstr>Introduction</vt:lpstr>
      <vt:lpstr>Introduction</vt:lpstr>
      <vt:lpstr>What Problem Does the Paper Solve?</vt:lpstr>
      <vt:lpstr>What Problem Does the Paper Solve?</vt:lpstr>
      <vt:lpstr>The Transformer Architecture</vt:lpstr>
      <vt:lpstr>PowerPoint Presentation</vt:lpstr>
      <vt:lpstr>PowerPoint Presentation</vt:lpstr>
      <vt:lpstr>Scaled Dot-Product Attention</vt:lpstr>
      <vt:lpstr>Scaled Dot-Product Attention</vt:lpstr>
      <vt:lpstr>PowerPoint Presentation</vt:lpstr>
      <vt:lpstr>Feed-Forward Networks</vt:lpstr>
      <vt:lpstr>Positional Encoding</vt:lpstr>
      <vt:lpstr>Encoder-Decoder Sublayer</vt:lpstr>
      <vt:lpstr>The Encoder</vt:lpstr>
      <vt:lpstr>The Decoder</vt:lpstr>
      <vt:lpstr>The Decoder</vt:lpstr>
      <vt:lpstr>Advantages Over Previous Models</vt:lpstr>
      <vt:lpstr>Advantages Over Previous Models </vt:lpstr>
      <vt:lpstr>Training the Transformer</vt:lpstr>
      <vt:lpstr>Training Data and Batching</vt:lpstr>
      <vt:lpstr>Hardware and Schedule</vt:lpstr>
      <vt:lpstr>Hyperparameters and regularization</vt:lpstr>
      <vt:lpstr>Results</vt:lpstr>
      <vt:lpstr>Conclusion</vt:lpstr>
      <vt:lpstr>Conclusion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655</cp:revision>
  <dcterms:created xsi:type="dcterms:W3CDTF">2025-11-12T04:29:41Z</dcterms:created>
  <dcterms:modified xsi:type="dcterms:W3CDTF">2025-11-13T14:49:15Z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